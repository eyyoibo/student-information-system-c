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4630400" cy="8229600"/>
  <p:notesSz cx="8229600" cy="14630400"/>
  <p:embeddedFontLst>
    <p:embeddedFont>
      <p:font typeface="IBM Plex Sans Medium"/>
      <p:regular r:id="rId17"/>
    </p:embeddedFont>
    <p:embeddedFont>
      <p:font typeface="IBM Plex Sans Medium"/>
      <p:regular r:id="rId18"/>
    </p:embeddedFont>
    <p:embeddedFont>
      <p:font typeface="IBM Plex Sans Medium"/>
      <p:regular r:id="rId19"/>
    </p:embeddedFont>
    <p:embeddedFont>
      <p:font typeface="IBM Plex Sans Medium"/>
      <p:regular r:id="rId20"/>
    </p:embeddedFont>
    <p:embeddedFont>
      <p:font typeface="Roboto"/>
      <p:regular r:id="rId21"/>
    </p:embeddedFont>
    <p:embeddedFont>
      <p:font typeface="Roboto"/>
      <p:regular r:id="rId22"/>
    </p:embeddedFont>
    <p:embeddedFont>
      <p:font typeface="Roboto"/>
      <p:regular r:id="rId23"/>
    </p:embeddedFont>
    <p:embeddedFont>
      <p:font typeface="Roboto"/>
      <p:regular r:id="rId24"/>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17" Type="http://schemas.openxmlformats.org/officeDocument/2006/relationships/font" Target="fonts/font1.fntdata"/><Relationship Id="rId18" Type="http://schemas.openxmlformats.org/officeDocument/2006/relationships/font" Target="fonts/font2.fntdata"/><Relationship Id="rId19" Type="http://schemas.openxmlformats.org/officeDocument/2006/relationships/font" Target="fonts/font3.fntdata"/><Relationship Id="rId20" Type="http://schemas.openxmlformats.org/officeDocument/2006/relationships/font" Target="fonts/font4.fntdata"/><Relationship Id="rId21" Type="http://schemas.openxmlformats.org/officeDocument/2006/relationships/font" Target="fonts/font5.fntdata"/><Relationship Id="rId22" Type="http://schemas.openxmlformats.org/officeDocument/2006/relationships/font" Target="fonts/font6.fntdata"/><Relationship Id="rId23" Type="http://schemas.openxmlformats.org/officeDocument/2006/relationships/font" Target="fonts/font7.fntdata"/><Relationship Id="rId24" Type="http://schemas.openxmlformats.org/officeDocument/2006/relationships/font" Target="fonts/font8.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1.pn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3-1.pn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4-1.png"/><Relationship Id="rId3"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5-1.png"/><Relationship Id="rId3"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6-1.png"/><Relationship Id="rId3"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7-1.png"/><Relationship Id="rId3"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8-1.png"/><Relationship Id="rId3"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9-1.png"/><Relationship Id="rId3"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0-1.png"/><Relationship Id="rId3"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1-1.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2242A"/>
          </a:solidFill>
          <a:ln/>
        </p:spPr>
      </p:sp>
      <p:sp>
        <p:nvSpPr>
          <p:cNvPr id="3" name="Shape 1"/>
          <p:cNvSpPr/>
          <p:nvPr/>
        </p:nvSpPr>
        <p:spPr>
          <a:xfrm>
            <a:off x="0" y="0"/>
            <a:ext cx="14630400" cy="8229600"/>
          </a:xfrm>
          <a:prstGeom prst="rect">
            <a:avLst/>
          </a:prstGeom>
          <a:solidFill>
            <a:srgbClr val="292C32"/>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2242A"/>
          </a:solidFill>
          <a:ln/>
        </p:spPr>
      </p:sp>
      <p:sp>
        <p:nvSpPr>
          <p:cNvPr id="3" name="Shape 1"/>
          <p:cNvSpPr/>
          <p:nvPr/>
        </p:nvSpPr>
        <p:spPr>
          <a:xfrm>
            <a:off x="0" y="0"/>
            <a:ext cx="14630400" cy="8229600"/>
          </a:xfrm>
          <a:prstGeom prst="rect">
            <a:avLst/>
          </a:prstGeom>
          <a:solidFill>
            <a:srgbClr val="292C32"/>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2242A"/>
          </a:solidFill>
          <a:ln/>
        </p:spPr>
      </p:sp>
      <p:sp>
        <p:nvSpPr>
          <p:cNvPr id="3" name="Shape 1"/>
          <p:cNvSpPr/>
          <p:nvPr/>
        </p:nvSpPr>
        <p:spPr>
          <a:xfrm>
            <a:off x="0" y="0"/>
            <a:ext cx="14630400" cy="8229600"/>
          </a:xfrm>
          <a:prstGeom prst="rect">
            <a:avLst/>
          </a:prstGeom>
          <a:solidFill>
            <a:srgbClr val="292C32"/>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2242A"/>
          </a:solidFill>
          <a:ln/>
        </p:spPr>
      </p:sp>
      <p:sp>
        <p:nvSpPr>
          <p:cNvPr id="3" name="Shape 1"/>
          <p:cNvSpPr/>
          <p:nvPr/>
        </p:nvSpPr>
        <p:spPr>
          <a:xfrm>
            <a:off x="0" y="0"/>
            <a:ext cx="14630400" cy="8229600"/>
          </a:xfrm>
          <a:prstGeom prst="rect">
            <a:avLst/>
          </a:prstGeom>
          <a:solidFill>
            <a:srgbClr val="292C32"/>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2242A"/>
          </a:solidFill>
          <a:ln/>
        </p:spPr>
      </p:sp>
      <p:sp>
        <p:nvSpPr>
          <p:cNvPr id="3" name="Shape 1"/>
          <p:cNvSpPr/>
          <p:nvPr/>
        </p:nvSpPr>
        <p:spPr>
          <a:xfrm>
            <a:off x="0" y="0"/>
            <a:ext cx="14630400" cy="8229600"/>
          </a:xfrm>
          <a:prstGeom prst="rect">
            <a:avLst/>
          </a:prstGeom>
          <a:solidFill>
            <a:srgbClr val="292C32"/>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2242A"/>
          </a:solidFill>
          <a:ln/>
        </p:spPr>
      </p:sp>
      <p:sp>
        <p:nvSpPr>
          <p:cNvPr id="3" name="Shape 1"/>
          <p:cNvSpPr/>
          <p:nvPr/>
        </p:nvSpPr>
        <p:spPr>
          <a:xfrm>
            <a:off x="0" y="0"/>
            <a:ext cx="14630400" cy="8229600"/>
          </a:xfrm>
          <a:prstGeom prst="rect">
            <a:avLst/>
          </a:prstGeom>
          <a:solidFill>
            <a:srgbClr val="292C32"/>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2242A"/>
          </a:solidFill>
          <a:ln/>
        </p:spPr>
      </p:sp>
      <p:sp>
        <p:nvSpPr>
          <p:cNvPr id="3" name="Shape 1"/>
          <p:cNvSpPr/>
          <p:nvPr/>
        </p:nvSpPr>
        <p:spPr>
          <a:xfrm>
            <a:off x="0" y="0"/>
            <a:ext cx="14630400" cy="8229600"/>
          </a:xfrm>
          <a:prstGeom prst="rect">
            <a:avLst/>
          </a:prstGeom>
          <a:solidFill>
            <a:srgbClr val="292C32"/>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2242A"/>
          </a:solidFill>
          <a:ln/>
        </p:spPr>
      </p:sp>
      <p:sp>
        <p:nvSpPr>
          <p:cNvPr id="3" name="Shape 1"/>
          <p:cNvSpPr/>
          <p:nvPr/>
        </p:nvSpPr>
        <p:spPr>
          <a:xfrm>
            <a:off x="0" y="0"/>
            <a:ext cx="14630400" cy="8229600"/>
          </a:xfrm>
          <a:prstGeom prst="rect">
            <a:avLst/>
          </a:prstGeom>
          <a:solidFill>
            <a:srgbClr val="292C32"/>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2242A"/>
          </a:solidFill>
          <a:ln/>
        </p:spPr>
      </p:sp>
      <p:sp>
        <p:nvSpPr>
          <p:cNvPr id="3" name="Shape 1"/>
          <p:cNvSpPr/>
          <p:nvPr/>
        </p:nvSpPr>
        <p:spPr>
          <a:xfrm>
            <a:off x="0" y="0"/>
            <a:ext cx="14630400" cy="8229600"/>
          </a:xfrm>
          <a:prstGeom prst="rect">
            <a:avLst/>
          </a:prstGeom>
          <a:solidFill>
            <a:srgbClr val="292C32"/>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2242A"/>
          </a:solidFill>
          <a:ln/>
        </p:spPr>
      </p:sp>
      <p:sp>
        <p:nvSpPr>
          <p:cNvPr id="3" name="Shape 1"/>
          <p:cNvSpPr/>
          <p:nvPr/>
        </p:nvSpPr>
        <p:spPr>
          <a:xfrm>
            <a:off x="0" y="0"/>
            <a:ext cx="14630400" cy="8229600"/>
          </a:xfrm>
          <a:prstGeom prst="rect">
            <a:avLst/>
          </a:prstGeom>
          <a:solidFill>
            <a:srgbClr val="292C32"/>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4.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svg"/><Relationship Id="rId3" Type="http://schemas.openxmlformats.org/officeDocument/2006/relationships/image" Target="../media/image-4-3.png"/><Relationship Id="rId4" Type="http://schemas.openxmlformats.org/officeDocument/2006/relationships/image" Target="../media/image-4-4.svg"/><Relationship Id="rId5" Type="http://schemas.openxmlformats.org/officeDocument/2006/relationships/image" Target="../media/image-4-5.png"/><Relationship Id="rId6" Type="http://schemas.openxmlformats.org/officeDocument/2006/relationships/image" Target="../media/image-4-6.svg"/><Relationship Id="rId7" Type="http://schemas.openxmlformats.org/officeDocument/2006/relationships/image" Target="../media/image-4-7.png"/><Relationship Id="rId8" Type="http://schemas.openxmlformats.org/officeDocument/2006/relationships/image" Target="../media/image-4-8.svg"/><Relationship Id="rId9" Type="http://schemas.openxmlformats.org/officeDocument/2006/relationships/slideLayout" Target="../slideLayouts/slideLayout5.xml"/><Relationship Id="rId10"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7.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8.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9.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0.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svg"/><Relationship Id="rId4" Type="http://schemas.openxmlformats.org/officeDocument/2006/relationships/image" Target="../media/image-10-4.png"/><Relationship Id="rId5" Type="http://schemas.openxmlformats.org/officeDocument/2006/relationships/image" Target="../media/image-10-5.svg"/><Relationship Id="rId6" Type="http://schemas.openxmlformats.org/officeDocument/2006/relationships/image" Target="../media/image-10-6.png"/><Relationship Id="rId7" Type="http://schemas.openxmlformats.org/officeDocument/2006/relationships/image" Target="../media/image-10-7.svg"/><Relationship Id="rId8" Type="http://schemas.openxmlformats.org/officeDocument/2006/relationships/slideLayout" Target="../slideLayouts/slideLayout11.xml"/><Relationship Id="rId9"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280190" y="2343269"/>
            <a:ext cx="7556421" cy="1417558"/>
          </a:xfrm>
          <a:prstGeom prst="rect">
            <a:avLst/>
          </a:prstGeom>
          <a:noFill/>
          <a:ln/>
        </p:spPr>
        <p:txBody>
          <a:bodyPr wrap="square" lIns="0" tIns="0" rIns="0" bIns="0" rtlCol="0" anchor="t"/>
          <a:lstStyle/>
          <a:p>
            <a:pPr algn="l" indent="0" marL="0">
              <a:lnSpc>
                <a:spcPts val="5550"/>
              </a:lnSpc>
              <a:buNone/>
            </a:pPr>
            <a:r>
              <a:rPr lang="en-US" sz="4450" dirty="0">
                <a:solidFill>
                  <a:srgbClr val="F3F3F2"/>
                </a:solidFill>
                <a:latin typeface="IBM Plex Sans Medium" pitchFamily="34" charset="0"/>
                <a:ea typeface="IBM Plex Sans Medium" pitchFamily="34" charset="-122"/>
                <a:cs typeface="IBM Plex Sans Medium" pitchFamily="34" charset="-120"/>
              </a:rPr>
              <a:t>Student Information System (SIS)</a:t>
            </a:r>
            <a:endParaRPr lang="en-US" sz="4450" dirty="0"/>
          </a:p>
        </p:txBody>
      </p:sp>
      <p:sp>
        <p:nvSpPr>
          <p:cNvPr id="4" name="Text 1"/>
          <p:cNvSpPr/>
          <p:nvPr/>
        </p:nvSpPr>
        <p:spPr>
          <a:xfrm>
            <a:off x="6280190" y="4100989"/>
            <a:ext cx="7556421" cy="1088708"/>
          </a:xfrm>
          <a:prstGeom prst="rect">
            <a:avLst/>
          </a:prstGeom>
          <a:noFill/>
          <a:ln/>
        </p:spPr>
        <p:txBody>
          <a:bodyPr wrap="square" lIns="0" tIns="0" rIns="0" bIns="0" rtlCol="0" anchor="t"/>
          <a:lstStyle/>
          <a:p>
            <a:pPr algn="l" indent="0" marL="0">
              <a:lnSpc>
                <a:spcPts val="2850"/>
              </a:lnSpc>
              <a:buNone/>
            </a:pPr>
            <a:r>
              <a:rPr lang="en-US" sz="1750" dirty="0">
                <a:solidFill>
                  <a:srgbClr val="D4D4D1"/>
                </a:solidFill>
                <a:latin typeface="Roboto" pitchFamily="34" charset="0"/>
                <a:ea typeface="Roboto" pitchFamily="34" charset="-122"/>
                <a:cs typeface="Roboto" pitchFamily="34" charset="-120"/>
              </a:rPr>
              <a:t>A comprehensive console-based software solution designed to digitize and automate core academic administrative processes using C programming language.</a:t>
            </a:r>
            <a:endParaRPr lang="en-US" sz="1750" dirty="0"/>
          </a:p>
        </p:txBody>
      </p:sp>
      <p:sp>
        <p:nvSpPr>
          <p:cNvPr id="5" name="Shape 2"/>
          <p:cNvSpPr/>
          <p:nvPr/>
        </p:nvSpPr>
        <p:spPr>
          <a:xfrm>
            <a:off x="6280190" y="5452467"/>
            <a:ext cx="2149078" cy="426244"/>
          </a:xfrm>
          <a:prstGeom prst="roundRect">
            <a:avLst>
              <a:gd name="adj" fmla="val 6386"/>
            </a:avLst>
          </a:prstGeom>
          <a:solidFill>
            <a:srgbClr val="4D1F00"/>
          </a:solidFill>
          <a:ln/>
        </p:spPr>
      </p:sp>
      <p:sp>
        <p:nvSpPr>
          <p:cNvPr id="6" name="Text 3"/>
          <p:cNvSpPr/>
          <p:nvPr/>
        </p:nvSpPr>
        <p:spPr>
          <a:xfrm>
            <a:off x="6416278" y="5520452"/>
            <a:ext cx="1876901" cy="290274"/>
          </a:xfrm>
          <a:prstGeom prst="rect">
            <a:avLst/>
          </a:prstGeom>
          <a:noFill/>
          <a:ln/>
        </p:spPr>
        <p:txBody>
          <a:bodyPr wrap="none" lIns="0" tIns="0" rIns="0" bIns="0" rtlCol="0" anchor="t"/>
          <a:lstStyle/>
          <a:p>
            <a:pPr algn="l" indent="0" marL="0">
              <a:lnSpc>
                <a:spcPts val="2250"/>
              </a:lnSpc>
              <a:buNone/>
            </a:pPr>
            <a:r>
              <a:rPr lang="en-US" sz="1400" dirty="0">
                <a:solidFill>
                  <a:srgbClr val="D4D4D1"/>
                </a:solidFill>
                <a:latin typeface="Roboto" pitchFamily="34" charset="0"/>
                <a:ea typeface="Roboto" pitchFamily="34" charset="-122"/>
                <a:cs typeface="Roboto" pitchFamily="34" charset="-120"/>
              </a:rPr>
              <a:t>CS102 TERM PROJECT</a:t>
            </a:r>
            <a:endParaRPr lang="en-US" sz="1400" dirty="0"/>
          </a:p>
        </p:txBody>
      </p:sp>
      <p:sp>
        <p:nvSpPr>
          <p:cNvPr id="7" name="Shape 4"/>
          <p:cNvSpPr/>
          <p:nvPr/>
        </p:nvSpPr>
        <p:spPr>
          <a:xfrm>
            <a:off x="8542615" y="5444847"/>
            <a:ext cx="2895838" cy="441484"/>
          </a:xfrm>
          <a:prstGeom prst="roundRect">
            <a:avLst>
              <a:gd name="adj" fmla="val 6165"/>
            </a:avLst>
          </a:prstGeom>
          <a:noFill/>
          <a:ln w="7620">
            <a:solidFill>
              <a:srgbClr val="FFBC8F"/>
            </a:solidFill>
            <a:prstDash val="solid"/>
          </a:ln>
        </p:spPr>
      </p:sp>
      <p:sp>
        <p:nvSpPr>
          <p:cNvPr id="8" name="Text 5"/>
          <p:cNvSpPr/>
          <p:nvPr/>
        </p:nvSpPr>
        <p:spPr>
          <a:xfrm>
            <a:off x="8686324" y="5520452"/>
            <a:ext cx="2608421" cy="290274"/>
          </a:xfrm>
          <a:prstGeom prst="rect">
            <a:avLst/>
          </a:prstGeom>
          <a:noFill/>
          <a:ln/>
        </p:spPr>
        <p:txBody>
          <a:bodyPr wrap="none" lIns="0" tIns="0" rIns="0" bIns="0" rtlCol="0" anchor="t"/>
          <a:lstStyle/>
          <a:p>
            <a:pPr algn="l" indent="0" marL="0">
              <a:lnSpc>
                <a:spcPts val="2250"/>
              </a:lnSpc>
              <a:buNone/>
            </a:pPr>
            <a:r>
              <a:rPr lang="en-US" sz="1400" dirty="0">
                <a:solidFill>
                  <a:srgbClr val="FFBC8F"/>
                </a:solidFill>
                <a:latin typeface="Roboto" pitchFamily="34" charset="0"/>
                <a:ea typeface="Roboto" pitchFamily="34" charset="-122"/>
                <a:cs typeface="Roboto" pitchFamily="34" charset="-120"/>
              </a:rPr>
              <a:t>GEBZE TECHNICAL UNIVERSITY</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93790" y="702112"/>
            <a:ext cx="951667" cy="290274"/>
          </a:xfrm>
          <a:prstGeom prst="rect">
            <a:avLst/>
          </a:prstGeom>
          <a:noFill/>
          <a:ln/>
        </p:spPr>
        <p:txBody>
          <a:bodyPr wrap="none" lIns="0" tIns="0" rIns="0" bIns="0" rtlCol="0" anchor="t"/>
          <a:lstStyle/>
          <a:p>
            <a:pPr algn="l" indent="0" marL="0">
              <a:lnSpc>
                <a:spcPts val="2250"/>
              </a:lnSpc>
              <a:buNone/>
            </a:pPr>
            <a:r>
              <a:rPr lang="en-US" sz="1400" dirty="0">
                <a:solidFill>
                  <a:srgbClr val="FFBC8F"/>
                </a:solidFill>
                <a:latin typeface="Roboto" pitchFamily="34" charset="0"/>
                <a:ea typeface="Roboto" pitchFamily="34" charset="-122"/>
                <a:cs typeface="Roboto" pitchFamily="34" charset="-120"/>
              </a:rPr>
              <a:t>CHAPTER 1</a:t>
            </a:r>
            <a:endParaRPr lang="en-US" sz="1400" dirty="0"/>
          </a:p>
        </p:txBody>
      </p:sp>
      <p:sp>
        <p:nvSpPr>
          <p:cNvPr id="3" name="Text 1"/>
          <p:cNvSpPr/>
          <p:nvPr/>
        </p:nvSpPr>
        <p:spPr>
          <a:xfrm>
            <a:off x="793790" y="1151096"/>
            <a:ext cx="7806214" cy="708779"/>
          </a:xfrm>
          <a:prstGeom prst="rect">
            <a:avLst/>
          </a:prstGeom>
          <a:noFill/>
          <a:ln/>
        </p:spPr>
        <p:txBody>
          <a:bodyPr wrap="none" lIns="0" tIns="0" rIns="0" bIns="0" rtlCol="0" anchor="t"/>
          <a:lstStyle/>
          <a:p>
            <a:pPr algn="l" indent="0" marL="0">
              <a:lnSpc>
                <a:spcPts val="5550"/>
              </a:lnSpc>
              <a:buNone/>
            </a:pPr>
            <a:r>
              <a:rPr lang="en-US" sz="4450" dirty="0">
                <a:solidFill>
                  <a:srgbClr val="F3F3F2"/>
                </a:solidFill>
                <a:latin typeface="IBM Plex Sans Medium" pitchFamily="34" charset="0"/>
                <a:ea typeface="IBM Plex Sans Medium" pitchFamily="34" charset="-122"/>
                <a:cs typeface="IBM Plex Sans Medium" pitchFamily="34" charset="-120"/>
              </a:rPr>
              <a:t>Project Overview &amp; Objectives</a:t>
            </a:r>
            <a:endParaRPr lang="en-US" sz="4450" dirty="0"/>
          </a:p>
        </p:txBody>
      </p:sp>
      <p:sp>
        <p:nvSpPr>
          <p:cNvPr id="4" name="Text 2"/>
          <p:cNvSpPr/>
          <p:nvPr/>
        </p:nvSpPr>
        <p:spPr>
          <a:xfrm>
            <a:off x="793790" y="2426851"/>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F3F3F2"/>
                </a:solidFill>
                <a:latin typeface="IBM Plex Sans Medium" pitchFamily="34" charset="0"/>
                <a:ea typeface="IBM Plex Sans Medium" pitchFamily="34" charset="-122"/>
                <a:cs typeface="IBM Plex Sans Medium" pitchFamily="34" charset="-120"/>
              </a:rPr>
              <a:t>Core Mission</a:t>
            </a:r>
            <a:endParaRPr lang="en-US" sz="2200" dirty="0"/>
          </a:p>
        </p:txBody>
      </p:sp>
      <p:sp>
        <p:nvSpPr>
          <p:cNvPr id="5" name="Text 3"/>
          <p:cNvSpPr/>
          <p:nvPr/>
        </p:nvSpPr>
        <p:spPr>
          <a:xfrm>
            <a:off x="793790" y="3007995"/>
            <a:ext cx="7604284" cy="1451610"/>
          </a:xfrm>
          <a:prstGeom prst="rect">
            <a:avLst/>
          </a:prstGeom>
          <a:noFill/>
          <a:ln/>
        </p:spPr>
        <p:txBody>
          <a:bodyPr wrap="square" lIns="0" tIns="0" rIns="0" bIns="0" rtlCol="0" anchor="t"/>
          <a:lstStyle/>
          <a:p>
            <a:pPr algn="l" indent="0" marL="0">
              <a:lnSpc>
                <a:spcPts val="2850"/>
              </a:lnSpc>
              <a:buNone/>
            </a:pPr>
            <a:r>
              <a:rPr lang="en-US" sz="1750" dirty="0">
                <a:solidFill>
                  <a:srgbClr val="D4D4D1"/>
                </a:solidFill>
                <a:latin typeface="Roboto" pitchFamily="34" charset="0"/>
                <a:ea typeface="Roboto" pitchFamily="34" charset="-122"/>
                <a:cs typeface="Roboto" pitchFamily="34" charset="-120"/>
              </a:rPr>
              <a:t>Architect a robust system handling complex relational data without external database engines, implementing custom file-based architecture using CSV files with sophisticated parsing algorithms and dynamic memory allocation.</a:t>
            </a:r>
            <a:endParaRPr lang="en-US" sz="1750" dirty="0"/>
          </a:p>
        </p:txBody>
      </p:sp>
      <p:sp>
        <p:nvSpPr>
          <p:cNvPr id="6" name="Text 4"/>
          <p:cNvSpPr/>
          <p:nvPr/>
        </p:nvSpPr>
        <p:spPr>
          <a:xfrm>
            <a:off x="793790" y="4686419"/>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F3F3F2"/>
                </a:solidFill>
                <a:latin typeface="IBM Plex Sans Medium" pitchFamily="34" charset="0"/>
                <a:ea typeface="IBM Plex Sans Medium" pitchFamily="34" charset="-122"/>
                <a:cs typeface="IBM Plex Sans Medium" pitchFamily="34" charset="-120"/>
              </a:rPr>
              <a:t>Key Domains</a:t>
            </a:r>
            <a:endParaRPr lang="en-US" sz="2200" dirty="0"/>
          </a:p>
        </p:txBody>
      </p:sp>
      <p:sp>
        <p:nvSpPr>
          <p:cNvPr id="7" name="Text 5"/>
          <p:cNvSpPr/>
          <p:nvPr/>
        </p:nvSpPr>
        <p:spPr>
          <a:xfrm>
            <a:off x="793790" y="5267563"/>
            <a:ext cx="7604284" cy="362903"/>
          </a:xfrm>
          <a:prstGeom prst="rect">
            <a:avLst/>
          </a:prstGeom>
          <a:noFill/>
          <a:ln/>
        </p:spPr>
        <p:txBody>
          <a:bodyPr wrap="none" lIns="0" tIns="0" rIns="0" bIns="0" rtlCol="0" anchor="t"/>
          <a:lstStyle/>
          <a:p>
            <a:pPr algn="l" marL="342900" indent="-342900">
              <a:lnSpc>
                <a:spcPts val="2850"/>
              </a:lnSpc>
              <a:buSzPct val="100000"/>
              <a:buChar char="•"/>
            </a:pPr>
            <a:r>
              <a:rPr lang="en-US" sz="1750" dirty="0">
                <a:solidFill>
                  <a:srgbClr val="D4D4D1"/>
                </a:solidFill>
                <a:latin typeface="Roboto" pitchFamily="34" charset="0"/>
                <a:ea typeface="Roboto" pitchFamily="34" charset="-122"/>
                <a:cs typeface="Roboto" pitchFamily="34" charset="-120"/>
              </a:rPr>
              <a:t>Student Administration - profiles, contact info, academic history</a:t>
            </a:r>
            <a:endParaRPr lang="en-US" sz="1750" dirty="0"/>
          </a:p>
        </p:txBody>
      </p:sp>
      <p:sp>
        <p:nvSpPr>
          <p:cNvPr id="8" name="Text 6"/>
          <p:cNvSpPr/>
          <p:nvPr/>
        </p:nvSpPr>
        <p:spPr>
          <a:xfrm>
            <a:off x="793790" y="5709761"/>
            <a:ext cx="7604284" cy="725805"/>
          </a:xfrm>
          <a:prstGeom prst="rect">
            <a:avLst/>
          </a:prstGeom>
          <a:noFill/>
          <a:ln/>
        </p:spPr>
        <p:txBody>
          <a:bodyPr wrap="square" lIns="0" tIns="0" rIns="0" bIns="0" rtlCol="0" anchor="t"/>
          <a:lstStyle/>
          <a:p>
            <a:pPr algn="l" marL="342900" indent="-342900">
              <a:lnSpc>
                <a:spcPts val="2850"/>
              </a:lnSpc>
              <a:buSzPct val="100000"/>
              <a:buChar char="•"/>
            </a:pPr>
            <a:r>
              <a:rPr lang="en-US" sz="1750" dirty="0">
                <a:solidFill>
                  <a:srgbClr val="D4D4D1"/>
                </a:solidFill>
                <a:latin typeface="Roboto" pitchFamily="34" charset="0"/>
                <a:ea typeface="Roboto" pitchFamily="34" charset="-122"/>
                <a:cs typeface="Roboto" pitchFamily="34" charset="-120"/>
              </a:rPr>
              <a:t>Course Management - curriculum catalog, credits, prerequisites, capacity</a:t>
            </a:r>
            <a:endParaRPr lang="en-US" sz="1750" dirty="0"/>
          </a:p>
        </p:txBody>
      </p:sp>
      <p:sp>
        <p:nvSpPr>
          <p:cNvPr id="9" name="Text 7"/>
          <p:cNvSpPr/>
          <p:nvPr/>
        </p:nvSpPr>
        <p:spPr>
          <a:xfrm>
            <a:off x="793790" y="6514862"/>
            <a:ext cx="7604284" cy="362903"/>
          </a:xfrm>
          <a:prstGeom prst="rect">
            <a:avLst/>
          </a:prstGeom>
          <a:noFill/>
          <a:ln/>
        </p:spPr>
        <p:txBody>
          <a:bodyPr wrap="none" lIns="0" tIns="0" rIns="0" bIns="0" rtlCol="0" anchor="t"/>
          <a:lstStyle/>
          <a:p>
            <a:pPr algn="l" marL="342900" indent="-342900">
              <a:lnSpc>
                <a:spcPts val="2850"/>
              </a:lnSpc>
              <a:buSzPct val="100000"/>
              <a:buChar char="•"/>
            </a:pPr>
            <a:r>
              <a:rPr lang="en-US" sz="1750" dirty="0">
                <a:solidFill>
                  <a:srgbClr val="D4D4D1"/>
                </a:solidFill>
                <a:latin typeface="Roboto" pitchFamily="34" charset="0"/>
                <a:ea typeface="Roboto" pitchFamily="34" charset="-122"/>
                <a:cs typeface="Roboto" pitchFamily="34" charset="-120"/>
              </a:rPr>
              <a:t>Faculty Coordination - professor assignments, workload reports</a:t>
            </a:r>
            <a:endParaRPr lang="en-US" sz="1750" dirty="0"/>
          </a:p>
        </p:txBody>
      </p:sp>
      <p:sp>
        <p:nvSpPr>
          <p:cNvPr id="10" name="Text 8"/>
          <p:cNvSpPr/>
          <p:nvPr/>
        </p:nvSpPr>
        <p:spPr>
          <a:xfrm>
            <a:off x="793790" y="6957060"/>
            <a:ext cx="7604284" cy="362903"/>
          </a:xfrm>
          <a:prstGeom prst="rect">
            <a:avLst/>
          </a:prstGeom>
          <a:noFill/>
          <a:ln/>
        </p:spPr>
        <p:txBody>
          <a:bodyPr wrap="none" lIns="0" tIns="0" rIns="0" bIns="0" rtlCol="0" anchor="t"/>
          <a:lstStyle/>
          <a:p>
            <a:pPr algn="l" marL="342900" indent="-342900">
              <a:lnSpc>
                <a:spcPts val="2850"/>
              </a:lnSpc>
              <a:buSzPct val="100000"/>
              <a:buChar char="•"/>
            </a:pPr>
            <a:r>
              <a:rPr lang="en-US" sz="1750" dirty="0">
                <a:solidFill>
                  <a:srgbClr val="D4D4D1"/>
                </a:solidFill>
                <a:latin typeface="Roboto" pitchFamily="34" charset="0"/>
                <a:ea typeface="Roboto" pitchFamily="34" charset="-122"/>
                <a:cs typeface="Roboto" pitchFamily="34" charset="-120"/>
              </a:rPr>
              <a:t>Academic Records - enrollments, grades, GPAs, graduation eligibility</a:t>
            </a:r>
            <a:endParaRPr lang="en-US" sz="1750" dirty="0"/>
          </a:p>
        </p:txBody>
      </p:sp>
      <p:pic>
        <p:nvPicPr>
          <p:cNvPr id="11" name="Image 0" descr="preencoded.png">    </p:cNvPr>
          <p:cNvPicPr>
            <a:picLocks noChangeAspect="1"/>
          </p:cNvPicPr>
          <p:nvPr/>
        </p:nvPicPr>
        <p:blipFill>
          <a:blip r:embed="rId1"/>
          <a:stretch>
            <a:fillRect/>
          </a:stretch>
        </p:blipFill>
        <p:spPr>
          <a:xfrm>
            <a:off x="8959096" y="2455188"/>
            <a:ext cx="4885015" cy="4885015"/>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642223" y="559951"/>
            <a:ext cx="769739" cy="234791"/>
          </a:xfrm>
          <a:prstGeom prst="rect">
            <a:avLst/>
          </a:prstGeom>
          <a:noFill/>
          <a:ln/>
        </p:spPr>
        <p:txBody>
          <a:bodyPr wrap="none" lIns="0" tIns="0" rIns="0" bIns="0" rtlCol="0" anchor="t"/>
          <a:lstStyle/>
          <a:p>
            <a:pPr algn="l" indent="0" marL="0">
              <a:lnSpc>
                <a:spcPts val="1800"/>
              </a:lnSpc>
              <a:buNone/>
            </a:pPr>
            <a:r>
              <a:rPr lang="en-US" sz="1150" dirty="0">
                <a:solidFill>
                  <a:srgbClr val="FFBC8F"/>
                </a:solidFill>
                <a:latin typeface="Roboto" pitchFamily="34" charset="0"/>
                <a:ea typeface="Roboto" pitchFamily="34" charset="-122"/>
                <a:cs typeface="Roboto" pitchFamily="34" charset="-120"/>
              </a:rPr>
              <a:t>CHAPTER 2</a:t>
            </a:r>
            <a:endParaRPr lang="en-US" sz="1150" dirty="0"/>
          </a:p>
        </p:txBody>
      </p:sp>
      <p:sp>
        <p:nvSpPr>
          <p:cNvPr id="4" name="Text 1"/>
          <p:cNvSpPr/>
          <p:nvPr/>
        </p:nvSpPr>
        <p:spPr>
          <a:xfrm>
            <a:off x="642223" y="923092"/>
            <a:ext cx="5812274" cy="573405"/>
          </a:xfrm>
          <a:prstGeom prst="rect">
            <a:avLst/>
          </a:prstGeom>
          <a:noFill/>
          <a:ln/>
        </p:spPr>
        <p:txBody>
          <a:bodyPr wrap="none" lIns="0" tIns="0" rIns="0" bIns="0" rtlCol="0" anchor="t"/>
          <a:lstStyle/>
          <a:p>
            <a:pPr algn="l" indent="0" marL="0">
              <a:lnSpc>
                <a:spcPts val="4500"/>
              </a:lnSpc>
              <a:buNone/>
            </a:pPr>
            <a:r>
              <a:rPr lang="en-US" sz="3600" dirty="0">
                <a:solidFill>
                  <a:srgbClr val="F3F3F2"/>
                </a:solidFill>
                <a:latin typeface="IBM Plex Sans Medium" pitchFamily="34" charset="0"/>
                <a:ea typeface="IBM Plex Sans Medium" pitchFamily="34" charset="-122"/>
                <a:cs typeface="IBM Plex Sans Medium" pitchFamily="34" charset="-120"/>
              </a:rPr>
              <a:t>System Architecture Design</a:t>
            </a:r>
            <a:endParaRPr lang="en-US" sz="3600" dirty="0"/>
          </a:p>
        </p:txBody>
      </p:sp>
      <p:sp>
        <p:nvSpPr>
          <p:cNvPr id="5" name="Shape 2"/>
          <p:cNvSpPr/>
          <p:nvPr/>
        </p:nvSpPr>
        <p:spPr>
          <a:xfrm>
            <a:off x="642223" y="1771650"/>
            <a:ext cx="7859554" cy="1350645"/>
          </a:xfrm>
          <a:prstGeom prst="roundRect">
            <a:avLst>
              <a:gd name="adj" fmla="val 2038"/>
            </a:avLst>
          </a:prstGeom>
          <a:solidFill>
            <a:srgbClr val="484B51"/>
          </a:solidFill>
          <a:ln/>
        </p:spPr>
      </p:sp>
      <p:sp>
        <p:nvSpPr>
          <p:cNvPr id="6" name="Text 3"/>
          <p:cNvSpPr/>
          <p:nvPr/>
        </p:nvSpPr>
        <p:spPr>
          <a:xfrm>
            <a:off x="825698" y="1955125"/>
            <a:ext cx="2293739" cy="286703"/>
          </a:xfrm>
          <a:prstGeom prst="rect">
            <a:avLst/>
          </a:prstGeom>
          <a:noFill/>
          <a:ln/>
        </p:spPr>
        <p:txBody>
          <a:bodyPr wrap="none" lIns="0" tIns="0" rIns="0" bIns="0" rtlCol="0" anchor="t"/>
          <a:lstStyle/>
          <a:p>
            <a:pPr algn="l" indent="0" marL="0">
              <a:lnSpc>
                <a:spcPts val="2250"/>
              </a:lnSpc>
              <a:buNone/>
            </a:pPr>
            <a:r>
              <a:rPr lang="en-US" sz="1800" dirty="0">
                <a:solidFill>
                  <a:srgbClr val="D4D4D1"/>
                </a:solidFill>
                <a:latin typeface="IBM Plex Sans Medium" pitchFamily="34" charset="0"/>
                <a:ea typeface="IBM Plex Sans Medium" pitchFamily="34" charset="-122"/>
                <a:cs typeface="IBM Plex Sans Medium" pitchFamily="34" charset="-120"/>
              </a:rPr>
              <a:t>Presentation Layer</a:t>
            </a:r>
            <a:endParaRPr lang="en-US" sz="1800" dirty="0"/>
          </a:p>
        </p:txBody>
      </p:sp>
      <p:sp>
        <p:nvSpPr>
          <p:cNvPr id="7" name="Text 4"/>
          <p:cNvSpPr/>
          <p:nvPr/>
        </p:nvSpPr>
        <p:spPr>
          <a:xfrm>
            <a:off x="825698" y="2351842"/>
            <a:ext cx="7492603" cy="586978"/>
          </a:xfrm>
          <a:prstGeom prst="rect">
            <a:avLst/>
          </a:prstGeom>
          <a:noFill/>
          <a:ln/>
        </p:spPr>
        <p:txBody>
          <a:bodyPr wrap="square" lIns="0" tIns="0" rIns="0" bIns="0" rtlCol="0" anchor="t"/>
          <a:lstStyle/>
          <a:p>
            <a:pPr algn="l" indent="0" marL="0">
              <a:lnSpc>
                <a:spcPts val="2300"/>
              </a:lnSpc>
              <a:buNone/>
            </a:pPr>
            <a:r>
              <a:rPr lang="en-US" sz="1400" dirty="0">
                <a:solidFill>
                  <a:srgbClr val="D4D4D1"/>
                </a:solidFill>
                <a:latin typeface="Roboto" pitchFamily="34" charset="0"/>
                <a:ea typeface="Roboto" pitchFamily="34" charset="-122"/>
                <a:cs typeface="Roboto" pitchFamily="34" charset="-120"/>
              </a:rPr>
              <a:t>Console-based UI managed by main.c and menu.c, handling all input/output operations with hierarchical menu system.</a:t>
            </a:r>
            <a:endParaRPr lang="en-US" sz="1400" dirty="0"/>
          </a:p>
        </p:txBody>
      </p:sp>
      <p:sp>
        <p:nvSpPr>
          <p:cNvPr id="8" name="Shape 5"/>
          <p:cNvSpPr/>
          <p:nvPr/>
        </p:nvSpPr>
        <p:spPr>
          <a:xfrm>
            <a:off x="642223" y="3305770"/>
            <a:ext cx="7859554" cy="1350645"/>
          </a:xfrm>
          <a:prstGeom prst="roundRect">
            <a:avLst>
              <a:gd name="adj" fmla="val 2038"/>
            </a:avLst>
          </a:prstGeom>
          <a:solidFill>
            <a:srgbClr val="484B51"/>
          </a:solidFill>
          <a:ln/>
        </p:spPr>
      </p:sp>
      <p:sp>
        <p:nvSpPr>
          <p:cNvPr id="9" name="Text 6"/>
          <p:cNvSpPr/>
          <p:nvPr/>
        </p:nvSpPr>
        <p:spPr>
          <a:xfrm>
            <a:off x="825698" y="3489246"/>
            <a:ext cx="2293739" cy="286703"/>
          </a:xfrm>
          <a:prstGeom prst="rect">
            <a:avLst/>
          </a:prstGeom>
          <a:noFill/>
          <a:ln/>
        </p:spPr>
        <p:txBody>
          <a:bodyPr wrap="none" lIns="0" tIns="0" rIns="0" bIns="0" rtlCol="0" anchor="t"/>
          <a:lstStyle/>
          <a:p>
            <a:pPr algn="l" indent="0" marL="0">
              <a:lnSpc>
                <a:spcPts val="2250"/>
              </a:lnSpc>
              <a:buNone/>
            </a:pPr>
            <a:r>
              <a:rPr lang="en-US" sz="1800" dirty="0">
                <a:solidFill>
                  <a:srgbClr val="D4D4D1"/>
                </a:solidFill>
                <a:latin typeface="IBM Plex Sans Medium" pitchFamily="34" charset="0"/>
                <a:ea typeface="IBM Plex Sans Medium" pitchFamily="34" charset="-122"/>
                <a:cs typeface="IBM Plex Sans Medium" pitchFamily="34" charset="-120"/>
              </a:rPr>
              <a:t>Controller Layer</a:t>
            </a:r>
            <a:endParaRPr lang="en-US" sz="1800" dirty="0"/>
          </a:p>
        </p:txBody>
      </p:sp>
      <p:sp>
        <p:nvSpPr>
          <p:cNvPr id="10" name="Text 7"/>
          <p:cNvSpPr/>
          <p:nvPr/>
        </p:nvSpPr>
        <p:spPr>
          <a:xfrm>
            <a:off x="825698" y="3885962"/>
            <a:ext cx="7492603" cy="586978"/>
          </a:xfrm>
          <a:prstGeom prst="rect">
            <a:avLst/>
          </a:prstGeom>
          <a:noFill/>
          <a:ln/>
        </p:spPr>
        <p:txBody>
          <a:bodyPr wrap="square" lIns="0" tIns="0" rIns="0" bIns="0" rtlCol="0" anchor="t"/>
          <a:lstStyle/>
          <a:p>
            <a:pPr algn="l" indent="0" marL="0">
              <a:lnSpc>
                <a:spcPts val="2300"/>
              </a:lnSpc>
              <a:buNone/>
            </a:pPr>
            <a:r>
              <a:rPr lang="en-US" sz="1400" dirty="0">
                <a:solidFill>
                  <a:srgbClr val="D4D4D1"/>
                </a:solidFill>
                <a:latin typeface="Roboto" pitchFamily="34" charset="0"/>
                <a:ea typeface="Roboto" pitchFamily="34" charset="-122"/>
                <a:cs typeface="Roboto" pitchFamily="34" charset="-120"/>
              </a:rPr>
              <a:t>Navigation logic bridging UI and business logic, parsing commands and routing to appropriate backend functions.</a:t>
            </a:r>
            <a:endParaRPr lang="en-US" sz="1400" dirty="0"/>
          </a:p>
        </p:txBody>
      </p:sp>
      <p:sp>
        <p:nvSpPr>
          <p:cNvPr id="11" name="Shape 8"/>
          <p:cNvSpPr/>
          <p:nvPr/>
        </p:nvSpPr>
        <p:spPr>
          <a:xfrm>
            <a:off x="642223" y="4839891"/>
            <a:ext cx="7859554" cy="1350645"/>
          </a:xfrm>
          <a:prstGeom prst="roundRect">
            <a:avLst>
              <a:gd name="adj" fmla="val 2038"/>
            </a:avLst>
          </a:prstGeom>
          <a:solidFill>
            <a:srgbClr val="484B51"/>
          </a:solidFill>
          <a:ln/>
        </p:spPr>
      </p:sp>
      <p:sp>
        <p:nvSpPr>
          <p:cNvPr id="12" name="Text 9"/>
          <p:cNvSpPr/>
          <p:nvPr/>
        </p:nvSpPr>
        <p:spPr>
          <a:xfrm>
            <a:off x="825698" y="5023366"/>
            <a:ext cx="2293739" cy="286703"/>
          </a:xfrm>
          <a:prstGeom prst="rect">
            <a:avLst/>
          </a:prstGeom>
          <a:noFill/>
          <a:ln/>
        </p:spPr>
        <p:txBody>
          <a:bodyPr wrap="none" lIns="0" tIns="0" rIns="0" bIns="0" rtlCol="0" anchor="t"/>
          <a:lstStyle/>
          <a:p>
            <a:pPr algn="l" indent="0" marL="0">
              <a:lnSpc>
                <a:spcPts val="2250"/>
              </a:lnSpc>
              <a:buNone/>
            </a:pPr>
            <a:r>
              <a:rPr lang="en-US" sz="1800" dirty="0">
                <a:solidFill>
                  <a:srgbClr val="D4D4D1"/>
                </a:solidFill>
                <a:latin typeface="IBM Plex Sans Medium" pitchFamily="34" charset="0"/>
                <a:ea typeface="IBM Plex Sans Medium" pitchFamily="34" charset="-122"/>
                <a:cs typeface="IBM Plex Sans Medium" pitchFamily="34" charset="-120"/>
              </a:rPr>
              <a:t>Business Logic Layer</a:t>
            </a:r>
            <a:endParaRPr lang="en-US" sz="1800" dirty="0"/>
          </a:p>
        </p:txBody>
      </p:sp>
      <p:sp>
        <p:nvSpPr>
          <p:cNvPr id="13" name="Text 10"/>
          <p:cNvSpPr/>
          <p:nvPr/>
        </p:nvSpPr>
        <p:spPr>
          <a:xfrm>
            <a:off x="825698" y="5420082"/>
            <a:ext cx="7492603" cy="586978"/>
          </a:xfrm>
          <a:prstGeom prst="rect">
            <a:avLst/>
          </a:prstGeom>
          <a:noFill/>
          <a:ln/>
        </p:spPr>
        <p:txBody>
          <a:bodyPr wrap="square" lIns="0" tIns="0" rIns="0" bIns="0" rtlCol="0" anchor="t"/>
          <a:lstStyle/>
          <a:p>
            <a:pPr algn="l" indent="0" marL="0">
              <a:lnSpc>
                <a:spcPts val="2300"/>
              </a:lnSpc>
              <a:buNone/>
            </a:pPr>
            <a:r>
              <a:rPr lang="en-US" sz="1400" dirty="0">
                <a:solidFill>
                  <a:srgbClr val="D4D4D1"/>
                </a:solidFill>
                <a:latin typeface="Roboto" pitchFamily="34" charset="0"/>
                <a:ea typeface="Roboto" pitchFamily="34" charset="-122"/>
                <a:cs typeface="Roboto" pitchFamily="34" charset="-120"/>
              </a:rPr>
              <a:t>Core modules (student.c, course.c, professor.c, enrollment.c, grade.c, curriculum.c) managing entity-specific operations.</a:t>
            </a:r>
            <a:endParaRPr lang="en-US" sz="1400" dirty="0"/>
          </a:p>
        </p:txBody>
      </p:sp>
      <p:sp>
        <p:nvSpPr>
          <p:cNvPr id="14" name="Shape 11"/>
          <p:cNvSpPr/>
          <p:nvPr/>
        </p:nvSpPr>
        <p:spPr>
          <a:xfrm>
            <a:off x="642223" y="6374011"/>
            <a:ext cx="7859554" cy="1350645"/>
          </a:xfrm>
          <a:prstGeom prst="roundRect">
            <a:avLst>
              <a:gd name="adj" fmla="val 2038"/>
            </a:avLst>
          </a:prstGeom>
          <a:solidFill>
            <a:srgbClr val="484B51"/>
          </a:solidFill>
          <a:ln/>
        </p:spPr>
      </p:sp>
      <p:sp>
        <p:nvSpPr>
          <p:cNvPr id="15" name="Text 12"/>
          <p:cNvSpPr/>
          <p:nvPr/>
        </p:nvSpPr>
        <p:spPr>
          <a:xfrm>
            <a:off x="825698" y="6557486"/>
            <a:ext cx="2398871" cy="286703"/>
          </a:xfrm>
          <a:prstGeom prst="rect">
            <a:avLst/>
          </a:prstGeom>
          <a:noFill/>
          <a:ln/>
        </p:spPr>
        <p:txBody>
          <a:bodyPr wrap="none" lIns="0" tIns="0" rIns="0" bIns="0" rtlCol="0" anchor="t"/>
          <a:lstStyle/>
          <a:p>
            <a:pPr algn="l" indent="0" marL="0">
              <a:lnSpc>
                <a:spcPts val="2250"/>
              </a:lnSpc>
              <a:buNone/>
            </a:pPr>
            <a:r>
              <a:rPr lang="en-US" sz="1800" dirty="0">
                <a:solidFill>
                  <a:srgbClr val="D4D4D1"/>
                </a:solidFill>
                <a:latin typeface="IBM Plex Sans Medium" pitchFamily="34" charset="0"/>
                <a:ea typeface="IBM Plex Sans Medium" pitchFamily="34" charset="-122"/>
                <a:cs typeface="IBM Plex Sans Medium" pitchFamily="34" charset="-120"/>
              </a:rPr>
              <a:t>Data Persistence Layer</a:t>
            </a:r>
            <a:endParaRPr lang="en-US" sz="1800" dirty="0"/>
          </a:p>
        </p:txBody>
      </p:sp>
      <p:sp>
        <p:nvSpPr>
          <p:cNvPr id="16" name="Text 13"/>
          <p:cNvSpPr/>
          <p:nvPr/>
        </p:nvSpPr>
        <p:spPr>
          <a:xfrm>
            <a:off x="825698" y="6954202"/>
            <a:ext cx="7492603" cy="586978"/>
          </a:xfrm>
          <a:prstGeom prst="rect">
            <a:avLst/>
          </a:prstGeom>
          <a:noFill/>
          <a:ln/>
        </p:spPr>
        <p:txBody>
          <a:bodyPr wrap="square" lIns="0" tIns="0" rIns="0" bIns="0" rtlCol="0" anchor="t"/>
          <a:lstStyle/>
          <a:p>
            <a:pPr algn="l" indent="0" marL="0">
              <a:lnSpc>
                <a:spcPts val="2300"/>
              </a:lnSpc>
              <a:buNone/>
            </a:pPr>
            <a:r>
              <a:rPr lang="en-US" sz="1400" dirty="0">
                <a:solidFill>
                  <a:srgbClr val="D4D4D1"/>
                </a:solidFill>
                <a:latin typeface="Roboto" pitchFamily="34" charset="0"/>
                <a:ea typeface="Roboto" pitchFamily="34" charset="-122"/>
                <a:cs typeface="Roboto" pitchFamily="34" charset="-120"/>
              </a:rPr>
              <a:t>Custom file-based database using CSV format with load/save functions for each module ensuring data preservation.</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93790" y="743426"/>
            <a:ext cx="951667" cy="290274"/>
          </a:xfrm>
          <a:prstGeom prst="rect">
            <a:avLst/>
          </a:prstGeom>
          <a:noFill/>
          <a:ln/>
        </p:spPr>
        <p:txBody>
          <a:bodyPr wrap="none" lIns="0" tIns="0" rIns="0" bIns="0" rtlCol="0" anchor="t"/>
          <a:lstStyle/>
          <a:p>
            <a:pPr algn="l" indent="0" marL="0">
              <a:lnSpc>
                <a:spcPts val="2250"/>
              </a:lnSpc>
              <a:buNone/>
            </a:pPr>
            <a:r>
              <a:rPr lang="en-US" sz="1400" dirty="0">
                <a:solidFill>
                  <a:srgbClr val="FFBC8F"/>
                </a:solidFill>
                <a:latin typeface="Roboto" pitchFamily="34" charset="0"/>
                <a:ea typeface="Roboto" pitchFamily="34" charset="-122"/>
                <a:cs typeface="Roboto" pitchFamily="34" charset="-120"/>
              </a:rPr>
              <a:t>CHAPTER 3</a:t>
            </a:r>
            <a:endParaRPr lang="en-US" sz="1400" dirty="0"/>
          </a:p>
        </p:txBody>
      </p:sp>
      <p:sp>
        <p:nvSpPr>
          <p:cNvPr id="3" name="Text 1"/>
          <p:cNvSpPr/>
          <p:nvPr/>
        </p:nvSpPr>
        <p:spPr>
          <a:xfrm>
            <a:off x="793790" y="1192411"/>
            <a:ext cx="8347115" cy="708779"/>
          </a:xfrm>
          <a:prstGeom prst="rect">
            <a:avLst/>
          </a:prstGeom>
          <a:noFill/>
          <a:ln/>
        </p:spPr>
        <p:txBody>
          <a:bodyPr wrap="none" lIns="0" tIns="0" rIns="0" bIns="0" rtlCol="0" anchor="t"/>
          <a:lstStyle/>
          <a:p>
            <a:pPr algn="l" indent="0" marL="0">
              <a:lnSpc>
                <a:spcPts val="5550"/>
              </a:lnSpc>
              <a:buNone/>
            </a:pPr>
            <a:r>
              <a:rPr lang="en-US" sz="4450" dirty="0">
                <a:solidFill>
                  <a:srgbClr val="F3F3F2"/>
                </a:solidFill>
                <a:latin typeface="IBM Plex Sans Medium" pitchFamily="34" charset="0"/>
                <a:ea typeface="IBM Plex Sans Medium" pitchFamily="34" charset="-122"/>
                <a:cs typeface="IBM Plex Sans Medium" pitchFamily="34" charset="-120"/>
              </a:rPr>
              <a:t>Technical Features &amp; Innovation</a:t>
            </a:r>
            <a:endParaRPr lang="en-US" sz="4450" dirty="0"/>
          </a:p>
        </p:txBody>
      </p:sp>
      <p:pic>
        <p:nvPicPr>
          <p:cNvPr id="4"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93790" y="2241352"/>
            <a:ext cx="566976" cy="566976"/>
          </a:xfrm>
          <a:prstGeom prst="rect">
            <a:avLst/>
          </a:prstGeom>
        </p:spPr>
      </p:pic>
      <p:sp>
        <p:nvSpPr>
          <p:cNvPr id="5" name="Text 2"/>
          <p:cNvSpPr/>
          <p:nvPr/>
        </p:nvSpPr>
        <p:spPr>
          <a:xfrm>
            <a:off x="793790" y="3091815"/>
            <a:ext cx="4005501" cy="354330"/>
          </a:xfrm>
          <a:prstGeom prst="rect">
            <a:avLst/>
          </a:prstGeom>
          <a:noFill/>
          <a:ln/>
        </p:spPr>
        <p:txBody>
          <a:bodyPr wrap="none" lIns="0" tIns="0" rIns="0" bIns="0" rtlCol="0" anchor="t"/>
          <a:lstStyle/>
          <a:p>
            <a:pPr algn="l" indent="0" marL="0">
              <a:lnSpc>
                <a:spcPts val="2750"/>
              </a:lnSpc>
              <a:buNone/>
            </a:pPr>
            <a:r>
              <a:rPr lang="en-US" sz="2200" dirty="0">
                <a:solidFill>
                  <a:srgbClr val="D4D4D1"/>
                </a:solidFill>
                <a:latin typeface="IBM Plex Sans Medium" pitchFamily="34" charset="0"/>
                <a:ea typeface="IBM Plex Sans Medium" pitchFamily="34" charset="-122"/>
                <a:cs typeface="IBM Plex Sans Medium" pitchFamily="34" charset="-120"/>
              </a:rPr>
              <a:t>Dynamic Memory Management</a:t>
            </a:r>
            <a:endParaRPr lang="en-US" sz="2200" dirty="0"/>
          </a:p>
        </p:txBody>
      </p:sp>
      <p:sp>
        <p:nvSpPr>
          <p:cNvPr id="6" name="Text 3"/>
          <p:cNvSpPr/>
          <p:nvPr/>
        </p:nvSpPr>
        <p:spPr>
          <a:xfrm>
            <a:off x="793790" y="3582233"/>
            <a:ext cx="6379607" cy="1088708"/>
          </a:xfrm>
          <a:prstGeom prst="rect">
            <a:avLst/>
          </a:prstGeom>
          <a:noFill/>
          <a:ln/>
        </p:spPr>
        <p:txBody>
          <a:bodyPr wrap="square" lIns="0" tIns="0" rIns="0" bIns="0" rtlCol="0" anchor="t"/>
          <a:lstStyle/>
          <a:p>
            <a:pPr algn="l" indent="0" marL="0">
              <a:lnSpc>
                <a:spcPts val="2850"/>
              </a:lnSpc>
              <a:buNone/>
            </a:pPr>
            <a:r>
              <a:rPr lang="en-US" sz="1750" dirty="0">
                <a:solidFill>
                  <a:srgbClr val="D4D4D1"/>
                </a:solidFill>
                <a:latin typeface="Roboto" pitchFamily="34" charset="0"/>
                <a:ea typeface="Roboto" pitchFamily="34" charset="-122"/>
                <a:cs typeface="Roboto" pitchFamily="34" charset="-120"/>
              </a:rPr>
              <a:t>Utilizes malloc and realloc for scalable data arrays, starting with zero records and growing to handle thousands limited only by RAM.</a:t>
            </a:r>
            <a:endParaRPr lang="en-US" sz="1750" dirty="0"/>
          </a:p>
        </p:txBody>
      </p:sp>
      <p:pic>
        <p:nvPicPr>
          <p:cNvPr id="7"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456884" y="2241352"/>
            <a:ext cx="566976" cy="566976"/>
          </a:xfrm>
          <a:prstGeom prst="rect">
            <a:avLst/>
          </a:prstGeom>
        </p:spPr>
      </p:pic>
      <p:sp>
        <p:nvSpPr>
          <p:cNvPr id="8" name="Text 4"/>
          <p:cNvSpPr/>
          <p:nvPr/>
        </p:nvSpPr>
        <p:spPr>
          <a:xfrm>
            <a:off x="7456884" y="3091815"/>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D4D4D1"/>
                </a:solidFill>
                <a:latin typeface="IBM Plex Sans Medium" pitchFamily="34" charset="0"/>
                <a:ea typeface="IBM Plex Sans Medium" pitchFamily="34" charset="-122"/>
                <a:cs typeface="IBM Plex Sans Medium" pitchFamily="34" charset="-120"/>
              </a:rPr>
              <a:t>Relational Logic</a:t>
            </a:r>
            <a:endParaRPr lang="en-US" sz="2200" dirty="0"/>
          </a:p>
        </p:txBody>
      </p:sp>
      <p:sp>
        <p:nvSpPr>
          <p:cNvPr id="9" name="Text 5"/>
          <p:cNvSpPr/>
          <p:nvPr/>
        </p:nvSpPr>
        <p:spPr>
          <a:xfrm>
            <a:off x="7456884" y="3582233"/>
            <a:ext cx="6379726" cy="1088708"/>
          </a:xfrm>
          <a:prstGeom prst="rect">
            <a:avLst/>
          </a:prstGeom>
          <a:noFill/>
          <a:ln/>
        </p:spPr>
        <p:txBody>
          <a:bodyPr wrap="square" lIns="0" tIns="0" rIns="0" bIns="0" rtlCol="0" anchor="t"/>
          <a:lstStyle/>
          <a:p>
            <a:pPr algn="l" indent="0" marL="0">
              <a:lnSpc>
                <a:spcPts val="2850"/>
              </a:lnSpc>
              <a:buNone/>
            </a:pPr>
            <a:r>
              <a:rPr lang="en-US" sz="1750" dirty="0">
                <a:solidFill>
                  <a:srgbClr val="D4D4D1"/>
                </a:solidFill>
                <a:latin typeface="Roboto" pitchFamily="34" charset="0"/>
                <a:ea typeface="Roboto" pitchFamily="34" charset="-122"/>
                <a:cs typeface="Roboto" pitchFamily="34" charset="-120"/>
              </a:rPr>
              <a:t>Mimics database behavior with referential integrity through foreign keys and cascade delete functionality preventing orphan records.</a:t>
            </a:r>
            <a:endParaRPr lang="en-US" sz="1750" dirty="0"/>
          </a:p>
        </p:txBody>
      </p:sp>
      <p:pic>
        <p:nvPicPr>
          <p:cNvPr id="10"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93790" y="5124569"/>
            <a:ext cx="566976" cy="566976"/>
          </a:xfrm>
          <a:prstGeom prst="rect">
            <a:avLst/>
          </a:prstGeom>
        </p:spPr>
      </p:pic>
      <p:sp>
        <p:nvSpPr>
          <p:cNvPr id="11" name="Text 6"/>
          <p:cNvSpPr/>
          <p:nvPr/>
        </p:nvSpPr>
        <p:spPr>
          <a:xfrm>
            <a:off x="793790" y="5975033"/>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D4D4D1"/>
                </a:solidFill>
                <a:latin typeface="IBM Plex Sans Medium" pitchFamily="34" charset="0"/>
                <a:ea typeface="IBM Plex Sans Medium" pitchFamily="34" charset="-122"/>
                <a:cs typeface="IBM Plex Sans Medium" pitchFamily="34" charset="-120"/>
              </a:rPr>
              <a:t>Advanced Validation</a:t>
            </a:r>
            <a:endParaRPr lang="en-US" sz="2200" dirty="0"/>
          </a:p>
        </p:txBody>
      </p:sp>
      <p:sp>
        <p:nvSpPr>
          <p:cNvPr id="12" name="Text 7"/>
          <p:cNvSpPr/>
          <p:nvPr/>
        </p:nvSpPr>
        <p:spPr>
          <a:xfrm>
            <a:off x="793790" y="6465451"/>
            <a:ext cx="6379607" cy="1088708"/>
          </a:xfrm>
          <a:prstGeom prst="rect">
            <a:avLst/>
          </a:prstGeom>
          <a:noFill/>
          <a:ln/>
        </p:spPr>
        <p:txBody>
          <a:bodyPr wrap="square" lIns="0" tIns="0" rIns="0" bIns="0" rtlCol="0" anchor="t"/>
          <a:lstStyle/>
          <a:p>
            <a:pPr algn="l" indent="0" marL="0">
              <a:lnSpc>
                <a:spcPts val="2850"/>
              </a:lnSpc>
              <a:buNone/>
            </a:pPr>
            <a:r>
              <a:rPr lang="en-US" sz="1750" dirty="0">
                <a:solidFill>
                  <a:srgbClr val="D4D4D1"/>
                </a:solidFill>
                <a:latin typeface="Roboto" pitchFamily="34" charset="0"/>
                <a:ea typeface="Roboto" pitchFamily="34" charset="-122"/>
                <a:cs typeface="Roboto" pitchFamily="34" charset="-120"/>
              </a:rPr>
              <a:t>Shared utility layer rigorously validates inputs including email formats, unique IDs, semester strings, and duplicate prevention.</a:t>
            </a:r>
            <a:endParaRPr lang="en-US" sz="1750" dirty="0"/>
          </a:p>
        </p:txBody>
      </p:sp>
      <p:pic>
        <p:nvPicPr>
          <p:cNvPr id="13"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456884" y="5124569"/>
            <a:ext cx="566976" cy="566976"/>
          </a:xfrm>
          <a:prstGeom prst="rect">
            <a:avLst/>
          </a:prstGeom>
        </p:spPr>
      </p:pic>
      <p:sp>
        <p:nvSpPr>
          <p:cNvPr id="14" name="Text 8"/>
          <p:cNvSpPr/>
          <p:nvPr/>
        </p:nvSpPr>
        <p:spPr>
          <a:xfrm>
            <a:off x="7456884" y="5975033"/>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D4D4D1"/>
                </a:solidFill>
                <a:latin typeface="IBM Plex Sans Medium" pitchFamily="34" charset="0"/>
                <a:ea typeface="IBM Plex Sans Medium" pitchFamily="34" charset="-122"/>
                <a:cs typeface="IBM Plex Sans Medium" pitchFamily="34" charset="-120"/>
              </a:rPr>
              <a:t>Curriculum Analysis</a:t>
            </a:r>
            <a:endParaRPr lang="en-US" sz="2200" dirty="0"/>
          </a:p>
        </p:txBody>
      </p:sp>
      <p:sp>
        <p:nvSpPr>
          <p:cNvPr id="15" name="Text 9"/>
          <p:cNvSpPr/>
          <p:nvPr/>
        </p:nvSpPr>
        <p:spPr>
          <a:xfrm>
            <a:off x="7456884" y="6465451"/>
            <a:ext cx="6379726" cy="1088708"/>
          </a:xfrm>
          <a:prstGeom prst="rect">
            <a:avLst/>
          </a:prstGeom>
          <a:noFill/>
          <a:ln/>
        </p:spPr>
        <p:txBody>
          <a:bodyPr wrap="square" lIns="0" tIns="0" rIns="0" bIns="0" rtlCol="0" anchor="t"/>
          <a:lstStyle/>
          <a:p>
            <a:pPr algn="l" indent="0" marL="0">
              <a:lnSpc>
                <a:spcPts val="2850"/>
              </a:lnSpc>
              <a:buNone/>
            </a:pPr>
            <a:r>
              <a:rPr lang="en-US" sz="1750" dirty="0">
                <a:solidFill>
                  <a:srgbClr val="D4D4D1"/>
                </a:solidFill>
                <a:latin typeface="Roboto" pitchFamily="34" charset="0"/>
                <a:ea typeface="Roboto" pitchFamily="34" charset="-122"/>
                <a:cs typeface="Roboto" pitchFamily="34" charset="-120"/>
              </a:rPr>
              <a:t>Engine analyzes student transcripts against degree requirements to determine graduation eligibility and identify missing courses.</a:t>
            </a:r>
            <a:endParaRPr lang="en-US" sz="1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93790" y="1189315"/>
            <a:ext cx="951667" cy="290274"/>
          </a:xfrm>
          <a:prstGeom prst="rect">
            <a:avLst/>
          </a:prstGeom>
          <a:noFill/>
          <a:ln/>
        </p:spPr>
        <p:txBody>
          <a:bodyPr wrap="none" lIns="0" tIns="0" rIns="0" bIns="0" rtlCol="0" anchor="t"/>
          <a:lstStyle/>
          <a:p>
            <a:pPr algn="l" indent="0" marL="0">
              <a:lnSpc>
                <a:spcPts val="2250"/>
              </a:lnSpc>
              <a:buNone/>
            </a:pPr>
            <a:r>
              <a:rPr lang="en-US" sz="1400" dirty="0">
                <a:solidFill>
                  <a:srgbClr val="FFBC8F"/>
                </a:solidFill>
                <a:latin typeface="Roboto" pitchFamily="34" charset="0"/>
                <a:ea typeface="Roboto" pitchFamily="34" charset="-122"/>
                <a:cs typeface="Roboto" pitchFamily="34" charset="-120"/>
              </a:rPr>
              <a:t>CHAPTER 4</a:t>
            </a:r>
            <a:endParaRPr lang="en-US" sz="1400" dirty="0"/>
          </a:p>
        </p:txBody>
      </p:sp>
      <p:sp>
        <p:nvSpPr>
          <p:cNvPr id="3" name="Text 1"/>
          <p:cNvSpPr/>
          <p:nvPr/>
        </p:nvSpPr>
        <p:spPr>
          <a:xfrm>
            <a:off x="793790" y="1638300"/>
            <a:ext cx="7989332" cy="708779"/>
          </a:xfrm>
          <a:prstGeom prst="rect">
            <a:avLst/>
          </a:prstGeom>
          <a:noFill/>
          <a:ln/>
        </p:spPr>
        <p:txBody>
          <a:bodyPr wrap="none" lIns="0" tIns="0" rIns="0" bIns="0" rtlCol="0" anchor="t"/>
          <a:lstStyle/>
          <a:p>
            <a:pPr algn="l" indent="0" marL="0">
              <a:lnSpc>
                <a:spcPts val="5550"/>
              </a:lnSpc>
              <a:buNone/>
            </a:pPr>
            <a:r>
              <a:rPr lang="en-US" sz="4450" dirty="0">
                <a:solidFill>
                  <a:srgbClr val="F3F3F2"/>
                </a:solidFill>
                <a:latin typeface="IBM Plex Sans Medium" pitchFamily="34" charset="0"/>
                <a:ea typeface="IBM Plex Sans Medium" pitchFamily="34" charset="-122"/>
                <a:cs typeface="IBM Plex Sans Medium" pitchFamily="34" charset="-120"/>
              </a:rPr>
              <a:t>Data Structure &amp; Relationships</a:t>
            </a:r>
            <a:endParaRPr lang="en-US" sz="4450" dirty="0"/>
          </a:p>
        </p:txBody>
      </p:sp>
      <p:sp>
        <p:nvSpPr>
          <p:cNvPr id="4" name="Text 2"/>
          <p:cNvSpPr/>
          <p:nvPr/>
        </p:nvSpPr>
        <p:spPr>
          <a:xfrm>
            <a:off x="793790" y="2687241"/>
            <a:ext cx="226814" cy="283488"/>
          </a:xfrm>
          <a:prstGeom prst="rect">
            <a:avLst/>
          </a:prstGeom>
          <a:noFill/>
          <a:ln/>
        </p:spPr>
        <p:txBody>
          <a:bodyPr wrap="none" lIns="0" tIns="0" rIns="0" bIns="0" rtlCol="0" anchor="t"/>
          <a:lstStyle/>
          <a:p>
            <a:pPr algn="l" indent="0" marL="0">
              <a:lnSpc>
                <a:spcPts val="2850"/>
              </a:lnSpc>
              <a:buNone/>
            </a:pPr>
            <a:r>
              <a:rPr lang="en-US" sz="1750" dirty="0">
                <a:solidFill>
                  <a:srgbClr val="D4D4D1"/>
                </a:solidFill>
                <a:latin typeface="IBM Plex Sans Light" pitchFamily="34" charset="0"/>
                <a:ea typeface="IBM Plex Sans Light" pitchFamily="34" charset="-122"/>
                <a:cs typeface="IBM Plex Sans Light" pitchFamily="34" charset="-120"/>
              </a:rPr>
              <a:t>01</a:t>
            </a:r>
            <a:endParaRPr lang="en-US" sz="1750" dirty="0"/>
          </a:p>
        </p:txBody>
      </p:sp>
      <p:sp>
        <p:nvSpPr>
          <p:cNvPr id="5" name="Shape 3"/>
          <p:cNvSpPr/>
          <p:nvPr/>
        </p:nvSpPr>
        <p:spPr>
          <a:xfrm>
            <a:off x="793790" y="3042285"/>
            <a:ext cx="4196358" cy="30480"/>
          </a:xfrm>
          <a:prstGeom prst="rect">
            <a:avLst/>
          </a:prstGeom>
          <a:solidFill>
            <a:srgbClr val="FFBC8F"/>
          </a:solidFill>
          <a:ln/>
        </p:spPr>
      </p:sp>
      <p:sp>
        <p:nvSpPr>
          <p:cNvPr id="6" name="Text 4"/>
          <p:cNvSpPr/>
          <p:nvPr/>
        </p:nvSpPr>
        <p:spPr>
          <a:xfrm>
            <a:off x="793790" y="3216592"/>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D4D4D1"/>
                </a:solidFill>
                <a:latin typeface="IBM Plex Sans Medium" pitchFamily="34" charset="0"/>
                <a:ea typeface="IBM Plex Sans Medium" pitchFamily="34" charset="-122"/>
                <a:cs typeface="IBM Plex Sans Medium" pitchFamily="34" charset="-120"/>
              </a:rPr>
              <a:t>Student Entity</a:t>
            </a:r>
            <a:endParaRPr lang="en-US" sz="2200" dirty="0"/>
          </a:p>
        </p:txBody>
      </p:sp>
      <p:sp>
        <p:nvSpPr>
          <p:cNvPr id="7" name="Text 5"/>
          <p:cNvSpPr/>
          <p:nvPr/>
        </p:nvSpPr>
        <p:spPr>
          <a:xfrm>
            <a:off x="793790" y="3707011"/>
            <a:ext cx="4196358" cy="1088708"/>
          </a:xfrm>
          <a:prstGeom prst="rect">
            <a:avLst/>
          </a:prstGeom>
          <a:noFill/>
          <a:ln/>
        </p:spPr>
        <p:txBody>
          <a:bodyPr wrap="square" lIns="0" tIns="0" rIns="0" bIns="0" rtlCol="0" anchor="t"/>
          <a:lstStyle/>
          <a:p>
            <a:pPr algn="l" indent="0" marL="0">
              <a:lnSpc>
                <a:spcPts val="2850"/>
              </a:lnSpc>
              <a:buNone/>
            </a:pPr>
            <a:r>
              <a:rPr lang="en-US" sz="1750" dirty="0">
                <a:solidFill>
                  <a:srgbClr val="D4D4D1"/>
                </a:solidFill>
                <a:latin typeface="Roboto" pitchFamily="34" charset="0"/>
                <a:ea typeface="Roboto" pitchFamily="34" charset="-122"/>
                <a:cs typeface="Roboto" pitchFamily="34" charset="-120"/>
              </a:rPr>
              <a:t>ID (PK), name, email, phone, enrollment year, major, GPA - manages personal profiles and academic calculations.</a:t>
            </a:r>
            <a:endParaRPr lang="en-US" sz="1750" dirty="0"/>
          </a:p>
        </p:txBody>
      </p:sp>
      <p:sp>
        <p:nvSpPr>
          <p:cNvPr id="8" name="Text 6"/>
          <p:cNvSpPr/>
          <p:nvPr/>
        </p:nvSpPr>
        <p:spPr>
          <a:xfrm>
            <a:off x="5216962" y="2687241"/>
            <a:ext cx="226814" cy="283488"/>
          </a:xfrm>
          <a:prstGeom prst="rect">
            <a:avLst/>
          </a:prstGeom>
          <a:noFill/>
          <a:ln/>
        </p:spPr>
        <p:txBody>
          <a:bodyPr wrap="none" lIns="0" tIns="0" rIns="0" bIns="0" rtlCol="0" anchor="t"/>
          <a:lstStyle/>
          <a:p>
            <a:pPr algn="l" indent="0" marL="0">
              <a:lnSpc>
                <a:spcPts val="2850"/>
              </a:lnSpc>
              <a:buNone/>
            </a:pPr>
            <a:r>
              <a:rPr lang="en-US" sz="1750" dirty="0">
                <a:solidFill>
                  <a:srgbClr val="D4D4D1"/>
                </a:solidFill>
                <a:latin typeface="IBM Plex Sans Light" pitchFamily="34" charset="0"/>
                <a:ea typeface="IBM Plex Sans Light" pitchFamily="34" charset="-122"/>
                <a:cs typeface="IBM Plex Sans Light" pitchFamily="34" charset="-120"/>
              </a:rPr>
              <a:t>02</a:t>
            </a:r>
            <a:endParaRPr lang="en-US" sz="1750" dirty="0"/>
          </a:p>
        </p:txBody>
      </p:sp>
      <p:sp>
        <p:nvSpPr>
          <p:cNvPr id="9" name="Shape 7"/>
          <p:cNvSpPr/>
          <p:nvPr/>
        </p:nvSpPr>
        <p:spPr>
          <a:xfrm>
            <a:off x="5216962" y="3042285"/>
            <a:ext cx="4196358" cy="30480"/>
          </a:xfrm>
          <a:prstGeom prst="rect">
            <a:avLst/>
          </a:prstGeom>
          <a:solidFill>
            <a:srgbClr val="FFBC8F"/>
          </a:solidFill>
          <a:ln/>
        </p:spPr>
      </p:sp>
      <p:sp>
        <p:nvSpPr>
          <p:cNvPr id="10" name="Text 8"/>
          <p:cNvSpPr/>
          <p:nvPr/>
        </p:nvSpPr>
        <p:spPr>
          <a:xfrm>
            <a:off x="5216962" y="3216592"/>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D4D4D1"/>
                </a:solidFill>
                <a:latin typeface="IBM Plex Sans Medium" pitchFamily="34" charset="0"/>
                <a:ea typeface="IBM Plex Sans Medium" pitchFamily="34" charset="-122"/>
                <a:cs typeface="IBM Plex Sans Medium" pitchFamily="34" charset="-120"/>
              </a:rPr>
              <a:t>Course Entity</a:t>
            </a:r>
            <a:endParaRPr lang="en-US" sz="2200" dirty="0"/>
          </a:p>
        </p:txBody>
      </p:sp>
      <p:sp>
        <p:nvSpPr>
          <p:cNvPr id="11" name="Text 9"/>
          <p:cNvSpPr/>
          <p:nvPr/>
        </p:nvSpPr>
        <p:spPr>
          <a:xfrm>
            <a:off x="5216962" y="3707011"/>
            <a:ext cx="4196358" cy="1088708"/>
          </a:xfrm>
          <a:prstGeom prst="rect">
            <a:avLst/>
          </a:prstGeom>
          <a:noFill/>
          <a:ln/>
        </p:spPr>
        <p:txBody>
          <a:bodyPr wrap="square" lIns="0" tIns="0" rIns="0" bIns="0" rtlCol="0" anchor="t"/>
          <a:lstStyle/>
          <a:p>
            <a:pPr algn="l" indent="0" marL="0">
              <a:lnSpc>
                <a:spcPts val="2850"/>
              </a:lnSpc>
              <a:buNone/>
            </a:pPr>
            <a:r>
              <a:rPr lang="en-US" sz="1750" dirty="0">
                <a:solidFill>
                  <a:srgbClr val="D4D4D1"/>
                </a:solidFill>
                <a:latin typeface="Roboto" pitchFamily="34" charset="0"/>
                <a:ea typeface="Roboto" pitchFamily="34" charset="-122"/>
                <a:cs typeface="Roboto" pitchFamily="34" charset="-120"/>
              </a:rPr>
              <a:t>ID (PK), code, name, credits, capacity, department, prerequisites, instructor_id (FK) - handles curriculum catalog.</a:t>
            </a:r>
            <a:endParaRPr lang="en-US" sz="1750" dirty="0"/>
          </a:p>
        </p:txBody>
      </p:sp>
      <p:sp>
        <p:nvSpPr>
          <p:cNvPr id="12" name="Text 10"/>
          <p:cNvSpPr/>
          <p:nvPr/>
        </p:nvSpPr>
        <p:spPr>
          <a:xfrm>
            <a:off x="9640133" y="2687241"/>
            <a:ext cx="226814" cy="283488"/>
          </a:xfrm>
          <a:prstGeom prst="rect">
            <a:avLst/>
          </a:prstGeom>
          <a:noFill/>
          <a:ln/>
        </p:spPr>
        <p:txBody>
          <a:bodyPr wrap="none" lIns="0" tIns="0" rIns="0" bIns="0" rtlCol="0" anchor="t"/>
          <a:lstStyle/>
          <a:p>
            <a:pPr algn="l" indent="0" marL="0">
              <a:lnSpc>
                <a:spcPts val="2850"/>
              </a:lnSpc>
              <a:buNone/>
            </a:pPr>
            <a:r>
              <a:rPr lang="en-US" sz="1750" dirty="0">
                <a:solidFill>
                  <a:srgbClr val="D4D4D1"/>
                </a:solidFill>
                <a:latin typeface="IBM Plex Sans Light" pitchFamily="34" charset="0"/>
                <a:ea typeface="IBM Plex Sans Light" pitchFamily="34" charset="-122"/>
                <a:cs typeface="IBM Plex Sans Light" pitchFamily="34" charset="-120"/>
              </a:rPr>
              <a:t>03</a:t>
            </a:r>
            <a:endParaRPr lang="en-US" sz="1750" dirty="0"/>
          </a:p>
        </p:txBody>
      </p:sp>
      <p:sp>
        <p:nvSpPr>
          <p:cNvPr id="13" name="Shape 11"/>
          <p:cNvSpPr/>
          <p:nvPr/>
        </p:nvSpPr>
        <p:spPr>
          <a:xfrm>
            <a:off x="9640133" y="3042285"/>
            <a:ext cx="4196358" cy="30480"/>
          </a:xfrm>
          <a:prstGeom prst="rect">
            <a:avLst/>
          </a:prstGeom>
          <a:solidFill>
            <a:srgbClr val="FFBC8F"/>
          </a:solidFill>
          <a:ln/>
        </p:spPr>
      </p:sp>
      <p:sp>
        <p:nvSpPr>
          <p:cNvPr id="14" name="Text 12"/>
          <p:cNvSpPr/>
          <p:nvPr/>
        </p:nvSpPr>
        <p:spPr>
          <a:xfrm>
            <a:off x="9640133" y="3216592"/>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D4D4D1"/>
                </a:solidFill>
                <a:latin typeface="IBM Plex Sans Medium" pitchFamily="34" charset="0"/>
                <a:ea typeface="IBM Plex Sans Medium" pitchFamily="34" charset="-122"/>
                <a:cs typeface="IBM Plex Sans Medium" pitchFamily="34" charset="-120"/>
              </a:rPr>
              <a:t>Professor Entity</a:t>
            </a:r>
            <a:endParaRPr lang="en-US" sz="2200" dirty="0"/>
          </a:p>
        </p:txBody>
      </p:sp>
      <p:sp>
        <p:nvSpPr>
          <p:cNvPr id="15" name="Text 13"/>
          <p:cNvSpPr/>
          <p:nvPr/>
        </p:nvSpPr>
        <p:spPr>
          <a:xfrm>
            <a:off x="9640133" y="3707011"/>
            <a:ext cx="4196358" cy="1088708"/>
          </a:xfrm>
          <a:prstGeom prst="rect">
            <a:avLst/>
          </a:prstGeom>
          <a:noFill/>
          <a:ln/>
        </p:spPr>
        <p:txBody>
          <a:bodyPr wrap="square" lIns="0" tIns="0" rIns="0" bIns="0" rtlCol="0" anchor="t"/>
          <a:lstStyle/>
          <a:p>
            <a:pPr algn="l" indent="0" marL="0">
              <a:lnSpc>
                <a:spcPts val="2850"/>
              </a:lnSpc>
              <a:buNone/>
            </a:pPr>
            <a:r>
              <a:rPr lang="en-US" sz="1750" dirty="0">
                <a:solidFill>
                  <a:srgbClr val="D4D4D1"/>
                </a:solidFill>
                <a:latin typeface="Roboto" pitchFamily="34" charset="0"/>
                <a:ea typeface="Roboto" pitchFamily="34" charset="-122"/>
                <a:cs typeface="Roboto" pitchFamily="34" charset="-120"/>
              </a:rPr>
              <a:t>ID (PK), name, email, phone, department, title, office - manages faculty records and course assignments.</a:t>
            </a:r>
            <a:endParaRPr lang="en-US" sz="1750" dirty="0"/>
          </a:p>
        </p:txBody>
      </p:sp>
      <p:sp>
        <p:nvSpPr>
          <p:cNvPr id="16" name="Text 14"/>
          <p:cNvSpPr/>
          <p:nvPr/>
        </p:nvSpPr>
        <p:spPr>
          <a:xfrm>
            <a:off x="793790" y="5192554"/>
            <a:ext cx="226814" cy="283488"/>
          </a:xfrm>
          <a:prstGeom prst="rect">
            <a:avLst/>
          </a:prstGeom>
          <a:noFill/>
          <a:ln/>
        </p:spPr>
        <p:txBody>
          <a:bodyPr wrap="none" lIns="0" tIns="0" rIns="0" bIns="0" rtlCol="0" anchor="t"/>
          <a:lstStyle/>
          <a:p>
            <a:pPr algn="l" indent="0" marL="0">
              <a:lnSpc>
                <a:spcPts val="2850"/>
              </a:lnSpc>
              <a:buNone/>
            </a:pPr>
            <a:r>
              <a:rPr lang="en-US" sz="1750" dirty="0">
                <a:solidFill>
                  <a:srgbClr val="D4D4D1"/>
                </a:solidFill>
                <a:latin typeface="IBM Plex Sans Light" pitchFamily="34" charset="0"/>
                <a:ea typeface="IBM Plex Sans Light" pitchFamily="34" charset="-122"/>
                <a:cs typeface="IBM Plex Sans Light" pitchFamily="34" charset="-120"/>
              </a:rPr>
              <a:t>04</a:t>
            </a:r>
            <a:endParaRPr lang="en-US" sz="1750" dirty="0"/>
          </a:p>
        </p:txBody>
      </p:sp>
      <p:sp>
        <p:nvSpPr>
          <p:cNvPr id="17" name="Shape 15"/>
          <p:cNvSpPr/>
          <p:nvPr/>
        </p:nvSpPr>
        <p:spPr>
          <a:xfrm>
            <a:off x="793790" y="5547598"/>
            <a:ext cx="6407944" cy="30480"/>
          </a:xfrm>
          <a:prstGeom prst="rect">
            <a:avLst/>
          </a:prstGeom>
          <a:solidFill>
            <a:srgbClr val="FFBC8F"/>
          </a:solidFill>
          <a:ln/>
        </p:spPr>
      </p:sp>
      <p:sp>
        <p:nvSpPr>
          <p:cNvPr id="18" name="Text 16"/>
          <p:cNvSpPr/>
          <p:nvPr/>
        </p:nvSpPr>
        <p:spPr>
          <a:xfrm>
            <a:off x="793790" y="5721906"/>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D4D4D1"/>
                </a:solidFill>
                <a:latin typeface="IBM Plex Sans Medium" pitchFamily="34" charset="0"/>
                <a:ea typeface="IBM Plex Sans Medium" pitchFamily="34" charset="-122"/>
                <a:cs typeface="IBM Plex Sans Medium" pitchFamily="34" charset="-120"/>
              </a:rPr>
              <a:t>Enrollment Entity</a:t>
            </a:r>
            <a:endParaRPr lang="en-US" sz="2200" dirty="0"/>
          </a:p>
        </p:txBody>
      </p:sp>
      <p:sp>
        <p:nvSpPr>
          <p:cNvPr id="19" name="Text 17"/>
          <p:cNvSpPr/>
          <p:nvPr/>
        </p:nvSpPr>
        <p:spPr>
          <a:xfrm>
            <a:off x="793790" y="6212324"/>
            <a:ext cx="6407944" cy="725805"/>
          </a:xfrm>
          <a:prstGeom prst="rect">
            <a:avLst/>
          </a:prstGeom>
          <a:noFill/>
          <a:ln/>
        </p:spPr>
        <p:txBody>
          <a:bodyPr wrap="square" lIns="0" tIns="0" rIns="0" bIns="0" rtlCol="0" anchor="t"/>
          <a:lstStyle/>
          <a:p>
            <a:pPr algn="l" indent="0" marL="0">
              <a:lnSpc>
                <a:spcPts val="2850"/>
              </a:lnSpc>
              <a:buNone/>
            </a:pPr>
            <a:r>
              <a:rPr lang="en-US" sz="1750" dirty="0">
                <a:solidFill>
                  <a:srgbClr val="D4D4D1"/>
                </a:solidFill>
                <a:latin typeface="Roboto" pitchFamily="34" charset="0"/>
                <a:ea typeface="Roboto" pitchFamily="34" charset="-122"/>
                <a:cs typeface="Roboto" pitchFamily="34" charset="-120"/>
              </a:rPr>
              <a:t>ID (PK), student_id (FK), course_id (FK), professor_id (FK), semester, date, status - links students to courses.</a:t>
            </a:r>
            <a:endParaRPr lang="en-US" sz="1750" dirty="0"/>
          </a:p>
        </p:txBody>
      </p:sp>
      <p:sp>
        <p:nvSpPr>
          <p:cNvPr id="20" name="Text 18"/>
          <p:cNvSpPr/>
          <p:nvPr/>
        </p:nvSpPr>
        <p:spPr>
          <a:xfrm>
            <a:off x="7428548" y="5192554"/>
            <a:ext cx="226814" cy="283488"/>
          </a:xfrm>
          <a:prstGeom prst="rect">
            <a:avLst/>
          </a:prstGeom>
          <a:noFill/>
          <a:ln/>
        </p:spPr>
        <p:txBody>
          <a:bodyPr wrap="none" lIns="0" tIns="0" rIns="0" bIns="0" rtlCol="0" anchor="t"/>
          <a:lstStyle/>
          <a:p>
            <a:pPr algn="l" indent="0" marL="0">
              <a:lnSpc>
                <a:spcPts val="2850"/>
              </a:lnSpc>
              <a:buNone/>
            </a:pPr>
            <a:r>
              <a:rPr lang="en-US" sz="1750" dirty="0">
                <a:solidFill>
                  <a:srgbClr val="D4D4D1"/>
                </a:solidFill>
                <a:latin typeface="IBM Plex Sans Light" pitchFamily="34" charset="0"/>
                <a:ea typeface="IBM Plex Sans Light" pitchFamily="34" charset="-122"/>
                <a:cs typeface="IBM Plex Sans Light" pitchFamily="34" charset="-120"/>
              </a:rPr>
              <a:t>05</a:t>
            </a:r>
            <a:endParaRPr lang="en-US" sz="1750" dirty="0"/>
          </a:p>
        </p:txBody>
      </p:sp>
      <p:sp>
        <p:nvSpPr>
          <p:cNvPr id="21" name="Shape 19"/>
          <p:cNvSpPr/>
          <p:nvPr/>
        </p:nvSpPr>
        <p:spPr>
          <a:xfrm>
            <a:off x="7428548" y="5547598"/>
            <a:ext cx="6407944" cy="30480"/>
          </a:xfrm>
          <a:prstGeom prst="rect">
            <a:avLst/>
          </a:prstGeom>
          <a:solidFill>
            <a:srgbClr val="FFBC8F"/>
          </a:solidFill>
          <a:ln/>
        </p:spPr>
      </p:sp>
      <p:sp>
        <p:nvSpPr>
          <p:cNvPr id="22" name="Text 20"/>
          <p:cNvSpPr/>
          <p:nvPr/>
        </p:nvSpPr>
        <p:spPr>
          <a:xfrm>
            <a:off x="7428548" y="5721906"/>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D4D4D1"/>
                </a:solidFill>
                <a:latin typeface="IBM Plex Sans Medium" pitchFamily="34" charset="0"/>
                <a:ea typeface="IBM Plex Sans Medium" pitchFamily="34" charset="-122"/>
                <a:cs typeface="IBM Plex Sans Medium" pitchFamily="34" charset="-120"/>
              </a:rPr>
              <a:t>Grade Entity</a:t>
            </a:r>
            <a:endParaRPr lang="en-US" sz="2200" dirty="0"/>
          </a:p>
        </p:txBody>
      </p:sp>
      <p:sp>
        <p:nvSpPr>
          <p:cNvPr id="23" name="Text 21"/>
          <p:cNvSpPr/>
          <p:nvPr/>
        </p:nvSpPr>
        <p:spPr>
          <a:xfrm>
            <a:off x="7428548" y="6212324"/>
            <a:ext cx="6407944" cy="725805"/>
          </a:xfrm>
          <a:prstGeom prst="rect">
            <a:avLst/>
          </a:prstGeom>
          <a:noFill/>
          <a:ln/>
        </p:spPr>
        <p:txBody>
          <a:bodyPr wrap="square" lIns="0" tIns="0" rIns="0" bIns="0" rtlCol="0" anchor="t"/>
          <a:lstStyle/>
          <a:p>
            <a:pPr algn="l" indent="0" marL="0">
              <a:lnSpc>
                <a:spcPts val="2850"/>
              </a:lnSpc>
              <a:buNone/>
            </a:pPr>
            <a:r>
              <a:rPr lang="en-US" sz="1750" dirty="0">
                <a:solidFill>
                  <a:srgbClr val="D4D4D1"/>
                </a:solidFill>
                <a:latin typeface="Roboto" pitchFamily="34" charset="0"/>
                <a:ea typeface="Roboto" pitchFamily="34" charset="-122"/>
                <a:cs typeface="Roboto" pitchFamily="34" charset="-120"/>
              </a:rPr>
              <a:t>ID (PK), enrollment_id (FK), student_id (FK), course_id (FK), letter grade, numeric grade, semester - tracks performance.</a:t>
            </a:r>
            <a:endParaRPr lang="en-US" sz="1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793790" y="734973"/>
            <a:ext cx="951667" cy="290274"/>
          </a:xfrm>
          <a:prstGeom prst="rect">
            <a:avLst/>
          </a:prstGeom>
          <a:noFill/>
          <a:ln/>
        </p:spPr>
        <p:txBody>
          <a:bodyPr wrap="none" lIns="0" tIns="0" rIns="0" bIns="0" rtlCol="0" anchor="t"/>
          <a:lstStyle/>
          <a:p>
            <a:pPr algn="l" indent="0" marL="0">
              <a:lnSpc>
                <a:spcPts val="2250"/>
              </a:lnSpc>
              <a:buNone/>
            </a:pPr>
            <a:r>
              <a:rPr lang="en-US" sz="1400" dirty="0">
                <a:solidFill>
                  <a:srgbClr val="FFBC8F"/>
                </a:solidFill>
                <a:latin typeface="Roboto" pitchFamily="34" charset="0"/>
                <a:ea typeface="Roboto" pitchFamily="34" charset="-122"/>
                <a:cs typeface="Roboto" pitchFamily="34" charset="-120"/>
              </a:rPr>
              <a:t>CHAPTER 5</a:t>
            </a:r>
            <a:endParaRPr lang="en-US" sz="1400" dirty="0"/>
          </a:p>
        </p:txBody>
      </p:sp>
      <p:sp>
        <p:nvSpPr>
          <p:cNvPr id="4" name="Text 1"/>
          <p:cNvSpPr/>
          <p:nvPr/>
        </p:nvSpPr>
        <p:spPr>
          <a:xfrm>
            <a:off x="793790" y="1183958"/>
            <a:ext cx="5670590" cy="708779"/>
          </a:xfrm>
          <a:prstGeom prst="rect">
            <a:avLst/>
          </a:prstGeom>
          <a:noFill/>
          <a:ln/>
        </p:spPr>
        <p:txBody>
          <a:bodyPr wrap="none" lIns="0" tIns="0" rIns="0" bIns="0" rtlCol="0" anchor="t"/>
          <a:lstStyle/>
          <a:p>
            <a:pPr algn="l" indent="0" marL="0">
              <a:lnSpc>
                <a:spcPts val="5550"/>
              </a:lnSpc>
              <a:buNone/>
            </a:pPr>
            <a:r>
              <a:rPr lang="en-US" sz="4450" dirty="0">
                <a:solidFill>
                  <a:srgbClr val="F3F3F2"/>
                </a:solidFill>
                <a:latin typeface="IBM Plex Sans Medium" pitchFamily="34" charset="0"/>
                <a:ea typeface="IBM Plex Sans Medium" pitchFamily="34" charset="-122"/>
                <a:cs typeface="IBM Plex Sans Medium" pitchFamily="34" charset="-120"/>
              </a:rPr>
              <a:t>Core Algorithms</a:t>
            </a:r>
            <a:endParaRPr lang="en-US" sz="4450" dirty="0"/>
          </a:p>
        </p:txBody>
      </p:sp>
      <p:sp>
        <p:nvSpPr>
          <p:cNvPr id="5" name="Text 2"/>
          <p:cNvSpPr/>
          <p:nvPr/>
        </p:nvSpPr>
        <p:spPr>
          <a:xfrm>
            <a:off x="793790" y="2459712"/>
            <a:ext cx="3501509" cy="850583"/>
          </a:xfrm>
          <a:prstGeom prst="rect">
            <a:avLst/>
          </a:prstGeom>
          <a:noFill/>
          <a:ln/>
        </p:spPr>
        <p:txBody>
          <a:bodyPr wrap="square" lIns="0" tIns="0" rIns="0" bIns="0" rtlCol="0" anchor="t"/>
          <a:lstStyle/>
          <a:p>
            <a:pPr algn="l" indent="0" marL="0">
              <a:lnSpc>
                <a:spcPts val="3300"/>
              </a:lnSpc>
              <a:buNone/>
            </a:pPr>
            <a:r>
              <a:rPr lang="en-US" sz="2650" dirty="0">
                <a:solidFill>
                  <a:srgbClr val="F3F3F2"/>
                </a:solidFill>
                <a:latin typeface="IBM Plex Sans Medium" pitchFamily="34" charset="0"/>
                <a:ea typeface="IBM Plex Sans Medium" pitchFamily="34" charset="-122"/>
                <a:cs typeface="IBM Plex Sans Medium" pitchFamily="34" charset="-120"/>
              </a:rPr>
              <a:t>Student Enrollment Algorithm</a:t>
            </a:r>
            <a:endParaRPr lang="en-US" sz="2650" dirty="0"/>
          </a:p>
        </p:txBody>
      </p:sp>
      <p:sp>
        <p:nvSpPr>
          <p:cNvPr id="6" name="Text 3"/>
          <p:cNvSpPr/>
          <p:nvPr/>
        </p:nvSpPr>
        <p:spPr>
          <a:xfrm>
            <a:off x="793790" y="3537109"/>
            <a:ext cx="3501509" cy="725805"/>
          </a:xfrm>
          <a:prstGeom prst="rect">
            <a:avLst/>
          </a:prstGeom>
          <a:noFill/>
          <a:ln/>
        </p:spPr>
        <p:txBody>
          <a:bodyPr wrap="square" lIns="0" tIns="0" rIns="0" bIns="0" rtlCol="0" anchor="t"/>
          <a:lstStyle/>
          <a:p>
            <a:pPr algn="l" marL="342900" indent="-342900">
              <a:lnSpc>
                <a:spcPts val="2850"/>
              </a:lnSpc>
              <a:buSzPct val="100000"/>
              <a:buFont typeface="+mj-lt"/>
              <a:buAutoNum type="arabicPeriod" startAt="1"/>
            </a:pPr>
            <a:r>
              <a:rPr lang="en-US" sz="1750" dirty="0">
                <a:solidFill>
                  <a:srgbClr val="D4D4D1"/>
                </a:solidFill>
                <a:latin typeface="Roboto" pitchFamily="34" charset="0"/>
                <a:ea typeface="Roboto" pitchFamily="34" charset="-122"/>
                <a:cs typeface="Roboto" pitchFamily="34" charset="-120"/>
              </a:rPr>
              <a:t>Validate student_id and course_id exist</a:t>
            </a:r>
            <a:endParaRPr lang="en-US" sz="1750" dirty="0"/>
          </a:p>
        </p:txBody>
      </p:sp>
      <p:sp>
        <p:nvSpPr>
          <p:cNvPr id="7" name="Text 4"/>
          <p:cNvSpPr/>
          <p:nvPr/>
        </p:nvSpPr>
        <p:spPr>
          <a:xfrm>
            <a:off x="793790" y="4342209"/>
            <a:ext cx="3501509" cy="725805"/>
          </a:xfrm>
          <a:prstGeom prst="rect">
            <a:avLst/>
          </a:prstGeom>
          <a:noFill/>
          <a:ln/>
        </p:spPr>
        <p:txBody>
          <a:bodyPr wrap="square" lIns="0" tIns="0" rIns="0" bIns="0" rtlCol="0" anchor="t"/>
          <a:lstStyle/>
          <a:p>
            <a:pPr algn="l" marL="342900" indent="-342900">
              <a:lnSpc>
                <a:spcPts val="2850"/>
              </a:lnSpc>
              <a:buSzPct val="100000"/>
              <a:buFont typeface="+mj-lt"/>
              <a:buAutoNum type="arabicPeriod" startAt="2"/>
            </a:pPr>
            <a:r>
              <a:rPr lang="en-US" sz="1750" dirty="0">
                <a:solidFill>
                  <a:srgbClr val="D4D4D1"/>
                </a:solidFill>
                <a:latin typeface="Roboto" pitchFamily="34" charset="0"/>
                <a:ea typeface="Roboto" pitchFamily="34" charset="-122"/>
                <a:cs typeface="Roboto" pitchFamily="34" charset="-120"/>
              </a:rPr>
              <a:t>Check for duplicate enrollment in same semester</a:t>
            </a:r>
            <a:endParaRPr lang="en-US" sz="1750" dirty="0"/>
          </a:p>
        </p:txBody>
      </p:sp>
      <p:sp>
        <p:nvSpPr>
          <p:cNvPr id="8" name="Text 5"/>
          <p:cNvSpPr/>
          <p:nvPr/>
        </p:nvSpPr>
        <p:spPr>
          <a:xfrm>
            <a:off x="793790" y="5147310"/>
            <a:ext cx="3501509" cy="725805"/>
          </a:xfrm>
          <a:prstGeom prst="rect">
            <a:avLst/>
          </a:prstGeom>
          <a:noFill/>
          <a:ln/>
        </p:spPr>
        <p:txBody>
          <a:bodyPr wrap="square" lIns="0" tIns="0" rIns="0" bIns="0" rtlCol="0" anchor="t"/>
          <a:lstStyle/>
          <a:p>
            <a:pPr algn="l" marL="342900" indent="-342900">
              <a:lnSpc>
                <a:spcPts val="2850"/>
              </a:lnSpc>
              <a:buSzPct val="100000"/>
              <a:buFont typeface="+mj-lt"/>
              <a:buAutoNum type="arabicPeriod" startAt="3"/>
            </a:pPr>
            <a:r>
              <a:rPr lang="en-US" sz="1750" dirty="0">
                <a:solidFill>
                  <a:srgbClr val="D4D4D1"/>
                </a:solidFill>
                <a:latin typeface="Roboto" pitchFamily="34" charset="0"/>
                <a:ea typeface="Roboto" pitchFamily="34" charset="-122"/>
                <a:cs typeface="Roboto" pitchFamily="34" charset="-120"/>
              </a:rPr>
              <a:t>Verify prerequisites are met with passing grades</a:t>
            </a:r>
            <a:endParaRPr lang="en-US" sz="1750" dirty="0"/>
          </a:p>
        </p:txBody>
      </p:sp>
      <p:sp>
        <p:nvSpPr>
          <p:cNvPr id="9" name="Text 6"/>
          <p:cNvSpPr/>
          <p:nvPr/>
        </p:nvSpPr>
        <p:spPr>
          <a:xfrm>
            <a:off x="793790" y="5952411"/>
            <a:ext cx="3501509" cy="725805"/>
          </a:xfrm>
          <a:prstGeom prst="rect">
            <a:avLst/>
          </a:prstGeom>
          <a:noFill/>
          <a:ln/>
        </p:spPr>
        <p:txBody>
          <a:bodyPr wrap="square" lIns="0" tIns="0" rIns="0" bIns="0" rtlCol="0" anchor="t"/>
          <a:lstStyle/>
          <a:p>
            <a:pPr algn="l" marL="342900" indent="-342900">
              <a:lnSpc>
                <a:spcPts val="2850"/>
              </a:lnSpc>
              <a:buSzPct val="100000"/>
              <a:buFont typeface="+mj-lt"/>
              <a:buAutoNum type="arabicPeriod" startAt="4"/>
            </a:pPr>
            <a:r>
              <a:rPr lang="en-US" sz="1750" dirty="0">
                <a:solidFill>
                  <a:srgbClr val="D4D4D1"/>
                </a:solidFill>
                <a:latin typeface="Roboto" pitchFamily="34" charset="0"/>
                <a:ea typeface="Roboto" pitchFamily="34" charset="-122"/>
                <a:cs typeface="Roboto" pitchFamily="34" charset="-120"/>
              </a:rPr>
              <a:t>Check course capacity against active enrollments</a:t>
            </a:r>
            <a:endParaRPr lang="en-US" sz="1750" dirty="0"/>
          </a:p>
        </p:txBody>
      </p:sp>
      <p:sp>
        <p:nvSpPr>
          <p:cNvPr id="10" name="Text 7"/>
          <p:cNvSpPr/>
          <p:nvPr/>
        </p:nvSpPr>
        <p:spPr>
          <a:xfrm>
            <a:off x="793790" y="6757511"/>
            <a:ext cx="3501509" cy="725805"/>
          </a:xfrm>
          <a:prstGeom prst="rect">
            <a:avLst/>
          </a:prstGeom>
          <a:noFill/>
          <a:ln/>
        </p:spPr>
        <p:txBody>
          <a:bodyPr wrap="square" lIns="0" tIns="0" rIns="0" bIns="0" rtlCol="0" anchor="t"/>
          <a:lstStyle/>
          <a:p>
            <a:pPr algn="l" marL="342900" indent="-342900">
              <a:lnSpc>
                <a:spcPts val="2850"/>
              </a:lnSpc>
              <a:buSzPct val="100000"/>
              <a:buFont typeface="+mj-lt"/>
              <a:buAutoNum type="arabicPeriod" startAt="5"/>
            </a:pPr>
            <a:r>
              <a:rPr lang="en-US" sz="1750" dirty="0">
                <a:solidFill>
                  <a:srgbClr val="D4D4D1"/>
                </a:solidFill>
                <a:latin typeface="Roboto" pitchFamily="34" charset="0"/>
                <a:ea typeface="Roboto" pitchFamily="34" charset="-122"/>
                <a:cs typeface="Roboto" pitchFamily="34" charset="-120"/>
              </a:rPr>
              <a:t>Create enrollment record with "Enrolled" status</a:t>
            </a:r>
            <a:endParaRPr lang="en-US" sz="1750" dirty="0"/>
          </a:p>
        </p:txBody>
      </p:sp>
      <p:sp>
        <p:nvSpPr>
          <p:cNvPr id="11" name="Text 8"/>
          <p:cNvSpPr/>
          <p:nvPr/>
        </p:nvSpPr>
        <p:spPr>
          <a:xfrm>
            <a:off x="4856321" y="2459712"/>
            <a:ext cx="3501509" cy="850583"/>
          </a:xfrm>
          <a:prstGeom prst="rect">
            <a:avLst/>
          </a:prstGeom>
          <a:noFill/>
          <a:ln/>
        </p:spPr>
        <p:txBody>
          <a:bodyPr wrap="square" lIns="0" tIns="0" rIns="0" bIns="0" rtlCol="0" anchor="t"/>
          <a:lstStyle/>
          <a:p>
            <a:pPr algn="l" indent="0" marL="0">
              <a:lnSpc>
                <a:spcPts val="3300"/>
              </a:lnSpc>
              <a:buNone/>
            </a:pPr>
            <a:r>
              <a:rPr lang="en-US" sz="2650" dirty="0">
                <a:solidFill>
                  <a:srgbClr val="F3F3F2"/>
                </a:solidFill>
                <a:latin typeface="IBM Plex Sans Medium" pitchFamily="34" charset="0"/>
                <a:ea typeface="IBM Plex Sans Medium" pitchFamily="34" charset="-122"/>
                <a:cs typeface="IBM Plex Sans Medium" pitchFamily="34" charset="-120"/>
              </a:rPr>
              <a:t>Graduation Check Algorithm</a:t>
            </a:r>
            <a:endParaRPr lang="en-US" sz="2650" dirty="0"/>
          </a:p>
        </p:txBody>
      </p:sp>
      <p:sp>
        <p:nvSpPr>
          <p:cNvPr id="12" name="Text 9"/>
          <p:cNvSpPr/>
          <p:nvPr/>
        </p:nvSpPr>
        <p:spPr>
          <a:xfrm>
            <a:off x="4856321" y="3537109"/>
            <a:ext cx="3501509" cy="725805"/>
          </a:xfrm>
          <a:prstGeom prst="rect">
            <a:avLst/>
          </a:prstGeom>
          <a:noFill/>
          <a:ln/>
        </p:spPr>
        <p:txBody>
          <a:bodyPr wrap="square" lIns="0" tIns="0" rIns="0" bIns="0" rtlCol="0" anchor="t"/>
          <a:lstStyle/>
          <a:p>
            <a:pPr algn="l" marL="342900" indent="-342900">
              <a:lnSpc>
                <a:spcPts val="2850"/>
              </a:lnSpc>
              <a:buSzPct val="100000"/>
              <a:buFont typeface="+mj-lt"/>
              <a:buAutoNum type="arabicPeriod" startAt="1"/>
            </a:pPr>
            <a:r>
              <a:rPr lang="en-US" sz="1750" dirty="0">
                <a:solidFill>
                  <a:srgbClr val="D4D4D1"/>
                </a:solidFill>
                <a:latin typeface="Roboto" pitchFamily="34" charset="0"/>
                <a:ea typeface="Roboto" pitchFamily="34" charset="-122"/>
                <a:cs typeface="Roboto" pitchFamily="34" charset="-120"/>
              </a:rPr>
              <a:t>Load curriculum for student's department</a:t>
            </a:r>
            <a:endParaRPr lang="en-US" sz="1750" dirty="0"/>
          </a:p>
        </p:txBody>
      </p:sp>
      <p:sp>
        <p:nvSpPr>
          <p:cNvPr id="13" name="Text 10"/>
          <p:cNvSpPr/>
          <p:nvPr/>
        </p:nvSpPr>
        <p:spPr>
          <a:xfrm>
            <a:off x="4856321" y="4342209"/>
            <a:ext cx="3501509" cy="725805"/>
          </a:xfrm>
          <a:prstGeom prst="rect">
            <a:avLst/>
          </a:prstGeom>
          <a:noFill/>
          <a:ln/>
        </p:spPr>
        <p:txBody>
          <a:bodyPr wrap="square" lIns="0" tIns="0" rIns="0" bIns="0" rtlCol="0" anchor="t"/>
          <a:lstStyle/>
          <a:p>
            <a:pPr algn="l" marL="342900" indent="-342900">
              <a:lnSpc>
                <a:spcPts val="2850"/>
              </a:lnSpc>
              <a:buSzPct val="100000"/>
              <a:buFont typeface="+mj-lt"/>
              <a:buAutoNum type="arabicPeriod" startAt="2"/>
            </a:pPr>
            <a:r>
              <a:rPr lang="en-US" sz="1750" dirty="0">
                <a:solidFill>
                  <a:srgbClr val="D4D4D1"/>
                </a:solidFill>
                <a:latin typeface="Roboto" pitchFamily="34" charset="0"/>
                <a:ea typeface="Roboto" pitchFamily="34" charset="-122"/>
                <a:cs typeface="Roboto" pitchFamily="34" charset="-120"/>
              </a:rPr>
              <a:t>Check all required courses are passed</a:t>
            </a:r>
            <a:endParaRPr lang="en-US" sz="1750" dirty="0"/>
          </a:p>
        </p:txBody>
      </p:sp>
      <p:sp>
        <p:nvSpPr>
          <p:cNvPr id="14" name="Text 11"/>
          <p:cNvSpPr/>
          <p:nvPr/>
        </p:nvSpPr>
        <p:spPr>
          <a:xfrm>
            <a:off x="4856321" y="5147310"/>
            <a:ext cx="3501509" cy="725805"/>
          </a:xfrm>
          <a:prstGeom prst="rect">
            <a:avLst/>
          </a:prstGeom>
          <a:noFill/>
          <a:ln/>
        </p:spPr>
        <p:txBody>
          <a:bodyPr wrap="square" lIns="0" tIns="0" rIns="0" bIns="0" rtlCol="0" anchor="t"/>
          <a:lstStyle/>
          <a:p>
            <a:pPr algn="l" marL="342900" indent="-342900">
              <a:lnSpc>
                <a:spcPts val="2850"/>
              </a:lnSpc>
              <a:buSzPct val="100000"/>
              <a:buFont typeface="+mj-lt"/>
              <a:buAutoNum type="arabicPeriod" startAt="3"/>
            </a:pPr>
            <a:r>
              <a:rPr lang="en-US" sz="1750" dirty="0">
                <a:solidFill>
                  <a:srgbClr val="D4D4D1"/>
                </a:solidFill>
                <a:latin typeface="Roboto" pitchFamily="34" charset="0"/>
                <a:ea typeface="Roboto" pitchFamily="34" charset="-122"/>
                <a:cs typeface="Roboto" pitchFamily="34" charset="-120"/>
              </a:rPr>
              <a:t>Calculate total earned credits vs minimum required</a:t>
            </a:r>
            <a:endParaRPr lang="en-US" sz="1750" dirty="0"/>
          </a:p>
        </p:txBody>
      </p:sp>
      <p:sp>
        <p:nvSpPr>
          <p:cNvPr id="15" name="Text 12"/>
          <p:cNvSpPr/>
          <p:nvPr/>
        </p:nvSpPr>
        <p:spPr>
          <a:xfrm>
            <a:off x="4856321" y="5952411"/>
            <a:ext cx="3501509" cy="725805"/>
          </a:xfrm>
          <a:prstGeom prst="rect">
            <a:avLst/>
          </a:prstGeom>
          <a:noFill/>
          <a:ln/>
        </p:spPr>
        <p:txBody>
          <a:bodyPr wrap="square" lIns="0" tIns="0" rIns="0" bIns="0" rtlCol="0" anchor="t"/>
          <a:lstStyle/>
          <a:p>
            <a:pPr algn="l" marL="342900" indent="-342900">
              <a:lnSpc>
                <a:spcPts val="2850"/>
              </a:lnSpc>
              <a:buSzPct val="100000"/>
              <a:buFont typeface="+mj-lt"/>
              <a:buAutoNum type="arabicPeriod" startAt="4"/>
            </a:pPr>
            <a:r>
              <a:rPr lang="en-US" sz="1750" dirty="0">
                <a:solidFill>
                  <a:srgbClr val="D4D4D1"/>
                </a:solidFill>
                <a:latin typeface="Roboto" pitchFamily="34" charset="0"/>
                <a:ea typeface="Roboto" pitchFamily="34" charset="-122"/>
                <a:cs typeface="Roboto" pitchFamily="34" charset="-120"/>
              </a:rPr>
              <a:t>Verify GPA meets 2.00 threshold</a:t>
            </a:r>
            <a:endParaRPr lang="en-US" sz="1750" dirty="0"/>
          </a:p>
        </p:txBody>
      </p:sp>
      <p:sp>
        <p:nvSpPr>
          <p:cNvPr id="16" name="Text 13"/>
          <p:cNvSpPr/>
          <p:nvPr/>
        </p:nvSpPr>
        <p:spPr>
          <a:xfrm>
            <a:off x="4856321" y="6757511"/>
            <a:ext cx="3501509" cy="725805"/>
          </a:xfrm>
          <a:prstGeom prst="rect">
            <a:avLst/>
          </a:prstGeom>
          <a:noFill/>
          <a:ln/>
        </p:spPr>
        <p:txBody>
          <a:bodyPr wrap="square" lIns="0" tIns="0" rIns="0" bIns="0" rtlCol="0" anchor="t"/>
          <a:lstStyle/>
          <a:p>
            <a:pPr algn="l" marL="342900" indent="-342900">
              <a:lnSpc>
                <a:spcPts val="2850"/>
              </a:lnSpc>
              <a:buSzPct val="100000"/>
              <a:buFont typeface="+mj-lt"/>
              <a:buAutoNum type="arabicPeriod" startAt="5"/>
            </a:pPr>
            <a:r>
              <a:rPr lang="en-US" sz="1750" dirty="0">
                <a:solidFill>
                  <a:srgbClr val="D4D4D1"/>
                </a:solidFill>
                <a:latin typeface="Roboto" pitchFamily="34" charset="0"/>
                <a:ea typeface="Roboto" pitchFamily="34" charset="-122"/>
                <a:cs typeface="Roboto" pitchFamily="34" charset="-120"/>
              </a:rPr>
              <a:t>Report eligibility status with deficiencies</a:t>
            </a:r>
            <a:endParaRPr lang="en-US" sz="1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93790" y="1135975"/>
            <a:ext cx="951667" cy="290274"/>
          </a:xfrm>
          <a:prstGeom prst="rect">
            <a:avLst/>
          </a:prstGeom>
          <a:noFill/>
          <a:ln/>
        </p:spPr>
        <p:txBody>
          <a:bodyPr wrap="none" lIns="0" tIns="0" rIns="0" bIns="0" rtlCol="0" anchor="t"/>
          <a:lstStyle/>
          <a:p>
            <a:pPr algn="l" indent="0" marL="0">
              <a:lnSpc>
                <a:spcPts val="2250"/>
              </a:lnSpc>
              <a:buNone/>
            </a:pPr>
            <a:r>
              <a:rPr lang="en-US" sz="1400" dirty="0">
                <a:solidFill>
                  <a:srgbClr val="FFBC8F"/>
                </a:solidFill>
                <a:latin typeface="Roboto" pitchFamily="34" charset="0"/>
                <a:ea typeface="Roboto" pitchFamily="34" charset="-122"/>
                <a:cs typeface="Roboto" pitchFamily="34" charset="-120"/>
              </a:rPr>
              <a:t>CHAPTER 6</a:t>
            </a:r>
            <a:endParaRPr lang="en-US" sz="1400" dirty="0"/>
          </a:p>
        </p:txBody>
      </p:sp>
      <p:sp>
        <p:nvSpPr>
          <p:cNvPr id="3" name="Text 1"/>
          <p:cNvSpPr/>
          <p:nvPr/>
        </p:nvSpPr>
        <p:spPr>
          <a:xfrm>
            <a:off x="793790" y="1584960"/>
            <a:ext cx="10305931" cy="708779"/>
          </a:xfrm>
          <a:prstGeom prst="rect">
            <a:avLst/>
          </a:prstGeom>
          <a:noFill/>
          <a:ln/>
        </p:spPr>
        <p:txBody>
          <a:bodyPr wrap="none" lIns="0" tIns="0" rIns="0" bIns="0" rtlCol="0" anchor="t"/>
          <a:lstStyle/>
          <a:p>
            <a:pPr algn="l" indent="0" marL="0">
              <a:lnSpc>
                <a:spcPts val="5550"/>
              </a:lnSpc>
              <a:buNone/>
            </a:pPr>
            <a:r>
              <a:rPr lang="en-US" sz="4450" dirty="0">
                <a:solidFill>
                  <a:srgbClr val="F3F3F2"/>
                </a:solidFill>
                <a:latin typeface="IBM Plex Sans Medium" pitchFamily="34" charset="0"/>
                <a:ea typeface="IBM Plex Sans Medium" pitchFamily="34" charset="-122"/>
                <a:cs typeface="IBM Plex Sans Medium" pitchFamily="34" charset="-120"/>
              </a:rPr>
              <a:t>Implementation Challenges &amp; Solutions</a:t>
            </a:r>
            <a:endParaRPr lang="en-US" sz="4450" dirty="0"/>
          </a:p>
        </p:txBody>
      </p:sp>
      <p:pic>
        <p:nvPicPr>
          <p:cNvPr id="4" name="Image 0" descr="preencoded.png">    </p:cNvPr>
          <p:cNvPicPr>
            <a:picLocks noChangeAspect="1"/>
          </p:cNvPicPr>
          <p:nvPr/>
        </p:nvPicPr>
        <p:blipFill>
          <a:blip r:embed="rId1"/>
          <a:stretch>
            <a:fillRect/>
          </a:stretch>
        </p:blipFill>
        <p:spPr>
          <a:xfrm>
            <a:off x="793790" y="2633901"/>
            <a:ext cx="4347567" cy="907256"/>
          </a:xfrm>
          <a:prstGeom prst="rect">
            <a:avLst/>
          </a:prstGeom>
        </p:spPr>
      </p:pic>
      <p:sp>
        <p:nvSpPr>
          <p:cNvPr id="5" name="Text 2"/>
          <p:cNvSpPr/>
          <p:nvPr/>
        </p:nvSpPr>
        <p:spPr>
          <a:xfrm>
            <a:off x="1020604" y="3767971"/>
            <a:ext cx="2928104" cy="354330"/>
          </a:xfrm>
          <a:prstGeom prst="rect">
            <a:avLst/>
          </a:prstGeom>
          <a:noFill/>
          <a:ln/>
        </p:spPr>
        <p:txBody>
          <a:bodyPr wrap="none" lIns="0" tIns="0" rIns="0" bIns="0" rtlCol="0" anchor="t"/>
          <a:lstStyle/>
          <a:p>
            <a:pPr algn="l" indent="0" marL="0">
              <a:lnSpc>
                <a:spcPts val="2750"/>
              </a:lnSpc>
              <a:buNone/>
            </a:pPr>
            <a:r>
              <a:rPr lang="en-US" sz="2200" dirty="0">
                <a:solidFill>
                  <a:srgbClr val="D4D4D1"/>
                </a:solidFill>
                <a:latin typeface="IBM Plex Sans Medium" pitchFamily="34" charset="0"/>
                <a:ea typeface="IBM Plex Sans Medium" pitchFamily="34" charset="-122"/>
                <a:cs typeface="IBM Plex Sans Medium" pitchFamily="34" charset="-120"/>
              </a:rPr>
              <a:t>Circular Dependencies</a:t>
            </a:r>
            <a:endParaRPr lang="en-US" sz="2200" dirty="0"/>
          </a:p>
        </p:txBody>
      </p:sp>
      <p:sp>
        <p:nvSpPr>
          <p:cNvPr id="6" name="Text 3"/>
          <p:cNvSpPr/>
          <p:nvPr/>
        </p:nvSpPr>
        <p:spPr>
          <a:xfrm>
            <a:off x="1020604" y="4258389"/>
            <a:ext cx="3893939" cy="1451610"/>
          </a:xfrm>
          <a:prstGeom prst="rect">
            <a:avLst/>
          </a:prstGeom>
          <a:noFill/>
          <a:ln/>
        </p:spPr>
        <p:txBody>
          <a:bodyPr wrap="square" lIns="0" tIns="0" rIns="0" bIns="0" rtlCol="0" anchor="t"/>
          <a:lstStyle/>
          <a:p>
            <a:pPr algn="l" indent="0" marL="0">
              <a:lnSpc>
                <a:spcPts val="2850"/>
              </a:lnSpc>
              <a:buNone/>
            </a:pPr>
            <a:r>
              <a:rPr lang="en-US" sz="1750" b="1" dirty="0">
                <a:solidFill>
                  <a:srgbClr val="D4D4D1"/>
                </a:solidFill>
                <a:latin typeface="Roboto" pitchFamily="34" charset="0"/>
                <a:ea typeface="Roboto" pitchFamily="34" charset="-122"/>
                <a:cs typeface="Roboto" pitchFamily="34" charset="-120"/>
              </a:rPr>
              <a:t>Challenge:</a:t>
            </a:r>
            <a:pPr algn="l" indent="0" marL="0">
              <a:lnSpc>
                <a:spcPts val="2850"/>
              </a:lnSpc>
              <a:buNone/>
            </a:pPr>
            <a:r>
              <a:rPr lang="en-US" sz="1750" dirty="0">
                <a:solidFill>
                  <a:srgbClr val="D4D4D1"/>
                </a:solidFill>
                <a:latin typeface="Roboto" pitchFamily="34" charset="0"/>
                <a:ea typeface="Roboto" pitchFamily="34" charset="-122"/>
                <a:cs typeface="Roboto" pitchFamily="34" charset="-120"/>
              </a:rPr>
              <a:t> Course struct needed Enrollment reference while Enrollment needed Course, causing compilation errors.</a:t>
            </a:r>
            <a:endParaRPr lang="en-US" sz="1750" dirty="0"/>
          </a:p>
        </p:txBody>
      </p:sp>
      <p:sp>
        <p:nvSpPr>
          <p:cNvPr id="7" name="Text 4"/>
          <p:cNvSpPr/>
          <p:nvPr/>
        </p:nvSpPr>
        <p:spPr>
          <a:xfrm>
            <a:off x="1020604" y="5846088"/>
            <a:ext cx="3893939" cy="1088708"/>
          </a:xfrm>
          <a:prstGeom prst="rect">
            <a:avLst/>
          </a:prstGeom>
          <a:noFill/>
          <a:ln/>
        </p:spPr>
        <p:txBody>
          <a:bodyPr wrap="square" lIns="0" tIns="0" rIns="0" bIns="0" rtlCol="0" anchor="t"/>
          <a:lstStyle/>
          <a:p>
            <a:pPr algn="l" indent="0" marL="0">
              <a:lnSpc>
                <a:spcPts val="2850"/>
              </a:lnSpc>
              <a:buNone/>
            </a:pPr>
            <a:r>
              <a:rPr lang="en-US" sz="1750" b="1" dirty="0">
                <a:solidFill>
                  <a:srgbClr val="D4D4D1"/>
                </a:solidFill>
                <a:latin typeface="Roboto" pitchFamily="34" charset="0"/>
                <a:ea typeface="Roboto" pitchFamily="34" charset="-122"/>
                <a:cs typeface="Roboto" pitchFamily="34" charset="-120"/>
              </a:rPr>
              <a:t>Solution:</a:t>
            </a:r>
            <a:pPr algn="l" indent="0" marL="0">
              <a:lnSpc>
                <a:spcPts val="2850"/>
              </a:lnSpc>
              <a:buNone/>
            </a:pPr>
            <a:r>
              <a:rPr lang="en-US" sz="1750" dirty="0">
                <a:solidFill>
                  <a:srgbClr val="D4D4D1"/>
                </a:solidFill>
                <a:latin typeface="Roboto" pitchFamily="34" charset="0"/>
                <a:ea typeface="Roboto" pitchFamily="34" charset="-122"/>
                <a:cs typeface="Roboto" pitchFamily="34" charset="-120"/>
              </a:rPr>
              <a:t> Implemented forward declarations allowing pointers without full struct definitions.</a:t>
            </a:r>
            <a:endParaRPr lang="en-US" sz="1750" dirty="0"/>
          </a:p>
        </p:txBody>
      </p:sp>
      <p:pic>
        <p:nvPicPr>
          <p:cNvPr id="8" name="Image 1" descr="preencoded.png">    </p:cNvPr>
          <p:cNvPicPr>
            <a:picLocks noChangeAspect="1"/>
          </p:cNvPicPr>
          <p:nvPr/>
        </p:nvPicPr>
        <p:blipFill>
          <a:blip r:embed="rId2"/>
          <a:stretch>
            <a:fillRect/>
          </a:stretch>
        </p:blipFill>
        <p:spPr>
          <a:xfrm>
            <a:off x="5141357" y="2633901"/>
            <a:ext cx="4347567" cy="907256"/>
          </a:xfrm>
          <a:prstGeom prst="rect">
            <a:avLst/>
          </a:prstGeom>
        </p:spPr>
      </p:pic>
      <p:sp>
        <p:nvSpPr>
          <p:cNvPr id="9" name="Text 5"/>
          <p:cNvSpPr/>
          <p:nvPr/>
        </p:nvSpPr>
        <p:spPr>
          <a:xfrm>
            <a:off x="5368171" y="3767971"/>
            <a:ext cx="3046571" cy="354330"/>
          </a:xfrm>
          <a:prstGeom prst="rect">
            <a:avLst/>
          </a:prstGeom>
          <a:noFill/>
          <a:ln/>
        </p:spPr>
        <p:txBody>
          <a:bodyPr wrap="none" lIns="0" tIns="0" rIns="0" bIns="0" rtlCol="0" anchor="t"/>
          <a:lstStyle/>
          <a:p>
            <a:pPr algn="l" indent="0" marL="0">
              <a:lnSpc>
                <a:spcPts val="2750"/>
              </a:lnSpc>
              <a:buNone/>
            </a:pPr>
            <a:r>
              <a:rPr lang="en-US" sz="2200" dirty="0">
                <a:solidFill>
                  <a:srgbClr val="D4D4D1"/>
                </a:solidFill>
                <a:latin typeface="IBM Plex Sans Medium" pitchFamily="34" charset="0"/>
                <a:ea typeface="IBM Plex Sans Medium" pitchFamily="34" charset="-122"/>
                <a:cs typeface="IBM Plex Sans Medium" pitchFamily="34" charset="-120"/>
              </a:rPr>
              <a:t>Dynamic Array Resizing</a:t>
            </a:r>
            <a:endParaRPr lang="en-US" sz="2200" dirty="0"/>
          </a:p>
        </p:txBody>
      </p:sp>
      <p:sp>
        <p:nvSpPr>
          <p:cNvPr id="10" name="Text 6"/>
          <p:cNvSpPr/>
          <p:nvPr/>
        </p:nvSpPr>
        <p:spPr>
          <a:xfrm>
            <a:off x="5368171" y="4258389"/>
            <a:ext cx="3893939" cy="1088708"/>
          </a:xfrm>
          <a:prstGeom prst="rect">
            <a:avLst/>
          </a:prstGeom>
          <a:noFill/>
          <a:ln/>
        </p:spPr>
        <p:txBody>
          <a:bodyPr wrap="square" lIns="0" tIns="0" rIns="0" bIns="0" rtlCol="0" anchor="t"/>
          <a:lstStyle/>
          <a:p>
            <a:pPr algn="l" indent="0" marL="0">
              <a:lnSpc>
                <a:spcPts val="2850"/>
              </a:lnSpc>
              <a:buNone/>
            </a:pPr>
            <a:r>
              <a:rPr lang="en-US" sz="1750" b="1" dirty="0">
                <a:solidFill>
                  <a:srgbClr val="D4D4D1"/>
                </a:solidFill>
                <a:latin typeface="Roboto" pitchFamily="34" charset="0"/>
                <a:ea typeface="Roboto" pitchFamily="34" charset="-122"/>
                <a:cs typeface="Roboto" pitchFamily="34" charset="-120"/>
              </a:rPr>
              <a:t>Challenge:</a:t>
            </a:r>
            <a:pPr algn="l" indent="0" marL="0">
              <a:lnSpc>
                <a:spcPts val="2850"/>
              </a:lnSpc>
              <a:buNone/>
            </a:pPr>
            <a:r>
              <a:rPr lang="en-US" sz="1750" dirty="0">
                <a:solidFill>
                  <a:srgbClr val="D4D4D1"/>
                </a:solidFill>
                <a:latin typeface="Roboto" pitchFamily="34" charset="0"/>
                <a:ea typeface="Roboto" pitchFamily="34" charset="-122"/>
                <a:cs typeface="Roboto" pitchFamily="34" charset="-120"/>
              </a:rPr>
              <a:t> Single pointer caused invalid references when realloc moved memory blocks.</a:t>
            </a:r>
            <a:endParaRPr lang="en-US" sz="1750" dirty="0"/>
          </a:p>
        </p:txBody>
      </p:sp>
      <p:sp>
        <p:nvSpPr>
          <p:cNvPr id="11" name="Text 7"/>
          <p:cNvSpPr/>
          <p:nvPr/>
        </p:nvSpPr>
        <p:spPr>
          <a:xfrm>
            <a:off x="5368171" y="5483185"/>
            <a:ext cx="3893939" cy="1088708"/>
          </a:xfrm>
          <a:prstGeom prst="rect">
            <a:avLst/>
          </a:prstGeom>
          <a:noFill/>
          <a:ln/>
        </p:spPr>
        <p:txBody>
          <a:bodyPr wrap="square" lIns="0" tIns="0" rIns="0" bIns="0" rtlCol="0" anchor="t"/>
          <a:lstStyle/>
          <a:p>
            <a:pPr algn="l" indent="0" marL="0">
              <a:lnSpc>
                <a:spcPts val="2850"/>
              </a:lnSpc>
              <a:buNone/>
            </a:pPr>
            <a:r>
              <a:rPr lang="en-US" sz="1750" b="1" dirty="0">
                <a:solidFill>
                  <a:srgbClr val="D4D4D1"/>
                </a:solidFill>
                <a:latin typeface="Roboto" pitchFamily="34" charset="0"/>
                <a:ea typeface="Roboto" pitchFamily="34" charset="-122"/>
                <a:cs typeface="Roboto" pitchFamily="34" charset="-120"/>
              </a:rPr>
              <a:t>Solution:</a:t>
            </a:r>
            <a:pPr algn="l" indent="0" marL="0">
              <a:lnSpc>
                <a:spcPts val="2850"/>
              </a:lnSpc>
              <a:buNone/>
            </a:pPr>
            <a:r>
              <a:rPr lang="en-US" sz="1750" dirty="0">
                <a:solidFill>
                  <a:srgbClr val="D4D4D1"/>
                </a:solidFill>
                <a:latin typeface="Roboto" pitchFamily="34" charset="0"/>
                <a:ea typeface="Roboto" pitchFamily="34" charset="-122"/>
                <a:cs typeface="Roboto" pitchFamily="34" charset="-120"/>
              </a:rPr>
              <a:t> Adopted double pointer strategy ensuring memory address updates reflected globally.</a:t>
            </a:r>
            <a:endParaRPr lang="en-US" sz="1750" dirty="0"/>
          </a:p>
        </p:txBody>
      </p:sp>
      <p:pic>
        <p:nvPicPr>
          <p:cNvPr id="12" name="Image 2" descr="preencoded.png">    </p:cNvPr>
          <p:cNvPicPr>
            <a:picLocks noChangeAspect="1"/>
          </p:cNvPicPr>
          <p:nvPr/>
        </p:nvPicPr>
        <p:blipFill>
          <a:blip r:embed="rId3"/>
          <a:stretch>
            <a:fillRect/>
          </a:stretch>
        </p:blipFill>
        <p:spPr>
          <a:xfrm>
            <a:off x="9488924" y="2633901"/>
            <a:ext cx="4347567" cy="907256"/>
          </a:xfrm>
          <a:prstGeom prst="rect">
            <a:avLst/>
          </a:prstGeom>
        </p:spPr>
      </p:pic>
      <p:sp>
        <p:nvSpPr>
          <p:cNvPr id="13" name="Text 8"/>
          <p:cNvSpPr/>
          <p:nvPr/>
        </p:nvSpPr>
        <p:spPr>
          <a:xfrm>
            <a:off x="9715738" y="3767971"/>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D4D4D1"/>
                </a:solidFill>
                <a:latin typeface="IBM Plex Sans Medium" pitchFamily="34" charset="0"/>
                <a:ea typeface="IBM Plex Sans Medium" pitchFamily="34" charset="-122"/>
                <a:cs typeface="IBM Plex Sans Medium" pitchFamily="34" charset="-120"/>
              </a:rPr>
              <a:t>Input Buffer Handling</a:t>
            </a:r>
            <a:endParaRPr lang="en-US" sz="2200" dirty="0"/>
          </a:p>
        </p:txBody>
      </p:sp>
      <p:sp>
        <p:nvSpPr>
          <p:cNvPr id="14" name="Text 9"/>
          <p:cNvSpPr/>
          <p:nvPr/>
        </p:nvSpPr>
        <p:spPr>
          <a:xfrm>
            <a:off x="9715738" y="4258389"/>
            <a:ext cx="3893939" cy="1088708"/>
          </a:xfrm>
          <a:prstGeom prst="rect">
            <a:avLst/>
          </a:prstGeom>
          <a:noFill/>
          <a:ln/>
        </p:spPr>
        <p:txBody>
          <a:bodyPr wrap="square" lIns="0" tIns="0" rIns="0" bIns="0" rtlCol="0" anchor="t"/>
          <a:lstStyle/>
          <a:p>
            <a:pPr algn="l" indent="0" marL="0">
              <a:lnSpc>
                <a:spcPts val="2850"/>
              </a:lnSpc>
              <a:buNone/>
            </a:pPr>
            <a:r>
              <a:rPr lang="en-US" sz="1750" b="1" dirty="0">
                <a:solidFill>
                  <a:srgbClr val="D4D4D1"/>
                </a:solidFill>
                <a:latin typeface="Roboto" pitchFamily="34" charset="0"/>
                <a:ea typeface="Roboto" pitchFamily="34" charset="-122"/>
                <a:cs typeface="Roboto" pitchFamily="34" charset="-120"/>
              </a:rPr>
              <a:t>Challenge:</a:t>
            </a:r>
            <a:pPr algn="l" indent="0" marL="0">
              <a:lnSpc>
                <a:spcPts val="2850"/>
              </a:lnSpc>
              <a:buNone/>
            </a:pPr>
            <a:r>
              <a:rPr lang="en-US" sz="1750" dirty="0">
                <a:solidFill>
                  <a:srgbClr val="D4D4D1"/>
                </a:solidFill>
                <a:latin typeface="Roboto" pitchFamily="34" charset="0"/>
                <a:ea typeface="Roboto" pitchFamily="34" charset="-122"/>
                <a:cs typeface="Roboto" pitchFamily="34" charset="-120"/>
              </a:rPr>
              <a:t> scanf left newline characters causing subsequent string inputs to be skipped.</a:t>
            </a:r>
            <a:endParaRPr lang="en-US" sz="1750" dirty="0"/>
          </a:p>
        </p:txBody>
      </p:sp>
      <p:sp>
        <p:nvSpPr>
          <p:cNvPr id="15" name="Text 10"/>
          <p:cNvSpPr/>
          <p:nvPr/>
        </p:nvSpPr>
        <p:spPr>
          <a:xfrm>
            <a:off x="9715738" y="5483185"/>
            <a:ext cx="3893939" cy="1451610"/>
          </a:xfrm>
          <a:prstGeom prst="rect">
            <a:avLst/>
          </a:prstGeom>
          <a:noFill/>
          <a:ln/>
        </p:spPr>
        <p:txBody>
          <a:bodyPr wrap="square" lIns="0" tIns="0" rIns="0" bIns="0" rtlCol="0" anchor="t"/>
          <a:lstStyle/>
          <a:p>
            <a:pPr algn="l" indent="0" marL="0">
              <a:lnSpc>
                <a:spcPts val="2850"/>
              </a:lnSpc>
              <a:buNone/>
            </a:pPr>
            <a:r>
              <a:rPr lang="en-US" sz="1750" b="1" dirty="0">
                <a:solidFill>
                  <a:srgbClr val="D4D4D1"/>
                </a:solidFill>
                <a:latin typeface="Roboto" pitchFamily="34" charset="0"/>
                <a:ea typeface="Roboto" pitchFamily="34" charset="-122"/>
                <a:cs typeface="Roboto" pitchFamily="34" charset="-120"/>
              </a:rPr>
              <a:t>Solution:</a:t>
            </a:r>
            <a:pPr algn="l" indent="0" marL="0">
              <a:lnSpc>
                <a:spcPts val="2850"/>
              </a:lnSpc>
              <a:buNone/>
            </a:pPr>
            <a:r>
              <a:rPr lang="en-US" sz="1750" dirty="0">
                <a:solidFill>
                  <a:srgbClr val="D4D4D1"/>
                </a:solidFill>
                <a:latin typeface="Roboto" pitchFamily="34" charset="0"/>
                <a:ea typeface="Roboto" pitchFamily="34" charset="-122"/>
                <a:cs typeface="Roboto" pitchFamily="34" charset="-120"/>
              </a:rPr>
              <a:t> Implemented clear_input_buffer() helper and transitioned to fgets with trim function.</a:t>
            </a:r>
            <a:endParaRPr lang="en-US" sz="1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2594967"/>
          </a:xfrm>
          <a:prstGeom prst="rect">
            <a:avLst/>
          </a:prstGeom>
        </p:spPr>
      </p:pic>
      <p:sp>
        <p:nvSpPr>
          <p:cNvPr id="3" name="Text 0"/>
          <p:cNvSpPr/>
          <p:nvPr/>
        </p:nvSpPr>
        <p:spPr>
          <a:xfrm>
            <a:off x="749737" y="3228261"/>
            <a:ext cx="871061" cy="265747"/>
          </a:xfrm>
          <a:prstGeom prst="rect">
            <a:avLst/>
          </a:prstGeom>
          <a:noFill/>
          <a:ln/>
        </p:spPr>
        <p:txBody>
          <a:bodyPr wrap="none" lIns="0" tIns="0" rIns="0" bIns="0" rtlCol="0" anchor="t"/>
          <a:lstStyle/>
          <a:p>
            <a:pPr algn="l" indent="0" marL="0">
              <a:lnSpc>
                <a:spcPts val="2050"/>
              </a:lnSpc>
              <a:buNone/>
            </a:pPr>
            <a:r>
              <a:rPr lang="en-US" sz="1300" dirty="0">
                <a:solidFill>
                  <a:srgbClr val="FFBC8F"/>
                </a:solidFill>
                <a:latin typeface="Roboto" pitchFamily="34" charset="0"/>
                <a:ea typeface="Roboto" pitchFamily="34" charset="-122"/>
                <a:cs typeface="Roboto" pitchFamily="34" charset="-120"/>
              </a:rPr>
              <a:t>CHAPTER 7</a:t>
            </a:r>
            <a:endParaRPr lang="en-US" sz="1300" dirty="0"/>
          </a:p>
        </p:txBody>
      </p:sp>
      <p:sp>
        <p:nvSpPr>
          <p:cNvPr id="4" name="Text 1"/>
          <p:cNvSpPr/>
          <p:nvPr/>
        </p:nvSpPr>
        <p:spPr>
          <a:xfrm>
            <a:off x="749737" y="3639264"/>
            <a:ext cx="6604754" cy="648653"/>
          </a:xfrm>
          <a:prstGeom prst="rect">
            <a:avLst/>
          </a:prstGeom>
          <a:noFill/>
          <a:ln/>
        </p:spPr>
        <p:txBody>
          <a:bodyPr wrap="none" lIns="0" tIns="0" rIns="0" bIns="0" rtlCol="0" anchor="t"/>
          <a:lstStyle/>
          <a:p>
            <a:pPr algn="l" indent="0" marL="0">
              <a:lnSpc>
                <a:spcPts val="5100"/>
              </a:lnSpc>
              <a:buNone/>
            </a:pPr>
            <a:r>
              <a:rPr lang="en-US" sz="4050" dirty="0">
                <a:solidFill>
                  <a:srgbClr val="F3F3F2"/>
                </a:solidFill>
                <a:latin typeface="IBM Plex Sans Medium" pitchFamily="34" charset="0"/>
                <a:ea typeface="IBM Plex Sans Medium" pitchFamily="34" charset="-122"/>
                <a:cs typeface="IBM Plex Sans Medium" pitchFamily="34" charset="-120"/>
              </a:rPr>
              <a:t>Testing &amp; Validation Results</a:t>
            </a:r>
            <a:endParaRPr lang="en-US" sz="4050" dirty="0"/>
          </a:p>
        </p:txBody>
      </p:sp>
      <p:sp>
        <p:nvSpPr>
          <p:cNvPr id="5" name="Text 2"/>
          <p:cNvSpPr/>
          <p:nvPr/>
        </p:nvSpPr>
        <p:spPr>
          <a:xfrm>
            <a:off x="749737" y="4702969"/>
            <a:ext cx="4203978" cy="685086"/>
          </a:xfrm>
          <a:prstGeom prst="rect">
            <a:avLst/>
          </a:prstGeom>
          <a:noFill/>
          <a:ln/>
        </p:spPr>
        <p:txBody>
          <a:bodyPr wrap="none" lIns="0" tIns="0" rIns="0" bIns="0" rtlCol="0" anchor="t"/>
          <a:lstStyle/>
          <a:p>
            <a:pPr algn="ctr" indent="0" marL="0">
              <a:lnSpc>
                <a:spcPts val="5350"/>
              </a:lnSpc>
              <a:buNone/>
            </a:pPr>
            <a:r>
              <a:rPr lang="en-US" sz="5350" dirty="0">
                <a:solidFill>
                  <a:srgbClr val="D4D4D1"/>
                </a:solidFill>
                <a:latin typeface="IBM Plex Sans Medium" pitchFamily="34" charset="0"/>
                <a:ea typeface="IBM Plex Sans Medium" pitchFamily="34" charset="-122"/>
                <a:cs typeface="IBM Plex Sans Medium" pitchFamily="34" charset="-120"/>
              </a:rPr>
              <a:t>106</a:t>
            </a:r>
            <a:endParaRPr lang="en-US" sz="5350" dirty="0"/>
          </a:p>
        </p:txBody>
      </p:sp>
      <p:sp>
        <p:nvSpPr>
          <p:cNvPr id="6" name="Text 3"/>
          <p:cNvSpPr/>
          <p:nvPr/>
        </p:nvSpPr>
        <p:spPr>
          <a:xfrm>
            <a:off x="1554242" y="5647373"/>
            <a:ext cx="2594967" cy="324445"/>
          </a:xfrm>
          <a:prstGeom prst="rect">
            <a:avLst/>
          </a:prstGeom>
          <a:noFill/>
          <a:ln/>
        </p:spPr>
        <p:txBody>
          <a:bodyPr wrap="none" lIns="0" tIns="0" rIns="0" bIns="0" rtlCol="0" anchor="t"/>
          <a:lstStyle/>
          <a:p>
            <a:pPr algn="ctr" indent="0" marL="0">
              <a:lnSpc>
                <a:spcPts val="2550"/>
              </a:lnSpc>
              <a:buNone/>
            </a:pPr>
            <a:r>
              <a:rPr lang="en-US" sz="2000" dirty="0">
                <a:solidFill>
                  <a:srgbClr val="D4D4D1"/>
                </a:solidFill>
                <a:latin typeface="IBM Plex Sans Medium" pitchFamily="34" charset="0"/>
                <a:ea typeface="IBM Plex Sans Medium" pitchFamily="34" charset="-122"/>
                <a:cs typeface="IBM Plex Sans Medium" pitchFamily="34" charset="-120"/>
              </a:rPr>
              <a:t>Total Test Cases</a:t>
            </a:r>
            <a:endParaRPr lang="en-US" sz="2000" dirty="0"/>
          </a:p>
        </p:txBody>
      </p:sp>
      <p:sp>
        <p:nvSpPr>
          <p:cNvPr id="7" name="Text 4"/>
          <p:cNvSpPr/>
          <p:nvPr/>
        </p:nvSpPr>
        <p:spPr>
          <a:xfrm>
            <a:off x="749737" y="6096357"/>
            <a:ext cx="4203978" cy="664369"/>
          </a:xfrm>
          <a:prstGeom prst="rect">
            <a:avLst/>
          </a:prstGeom>
          <a:noFill/>
          <a:ln/>
        </p:spPr>
        <p:txBody>
          <a:bodyPr wrap="square" lIns="0" tIns="0" rIns="0" bIns="0" rtlCol="0" anchor="t"/>
          <a:lstStyle/>
          <a:p>
            <a:pPr algn="ctr" indent="0" marL="0">
              <a:lnSpc>
                <a:spcPts val="2600"/>
              </a:lnSpc>
              <a:buNone/>
            </a:pPr>
            <a:r>
              <a:rPr lang="en-US" sz="1600" dirty="0">
                <a:solidFill>
                  <a:srgbClr val="D4D4D1"/>
                </a:solidFill>
                <a:latin typeface="Roboto" pitchFamily="34" charset="0"/>
                <a:ea typeface="Roboto" pitchFamily="34" charset="-122"/>
                <a:cs typeface="Roboto" pitchFamily="34" charset="-120"/>
              </a:rPr>
              <a:t>Comprehensive unit and integration tests across all modules</a:t>
            </a:r>
            <a:endParaRPr lang="en-US" sz="1600" dirty="0"/>
          </a:p>
        </p:txBody>
      </p:sp>
      <p:sp>
        <p:nvSpPr>
          <p:cNvPr id="8" name="Text 5"/>
          <p:cNvSpPr/>
          <p:nvPr/>
        </p:nvSpPr>
        <p:spPr>
          <a:xfrm>
            <a:off x="5213152" y="4702969"/>
            <a:ext cx="4203978" cy="685086"/>
          </a:xfrm>
          <a:prstGeom prst="rect">
            <a:avLst/>
          </a:prstGeom>
          <a:noFill/>
          <a:ln/>
        </p:spPr>
        <p:txBody>
          <a:bodyPr wrap="none" lIns="0" tIns="0" rIns="0" bIns="0" rtlCol="0" anchor="t"/>
          <a:lstStyle/>
          <a:p>
            <a:pPr algn="ctr" indent="0" marL="0">
              <a:lnSpc>
                <a:spcPts val="5350"/>
              </a:lnSpc>
              <a:buNone/>
            </a:pPr>
            <a:r>
              <a:rPr lang="en-US" sz="5350" dirty="0">
                <a:solidFill>
                  <a:srgbClr val="D4D4D1"/>
                </a:solidFill>
                <a:latin typeface="IBM Plex Sans Medium" pitchFamily="34" charset="0"/>
                <a:ea typeface="IBM Plex Sans Medium" pitchFamily="34" charset="-122"/>
                <a:cs typeface="IBM Plex Sans Medium" pitchFamily="34" charset="-120"/>
              </a:rPr>
              <a:t>100%</a:t>
            </a:r>
            <a:endParaRPr lang="en-US" sz="5350" dirty="0"/>
          </a:p>
        </p:txBody>
      </p:sp>
      <p:sp>
        <p:nvSpPr>
          <p:cNvPr id="9" name="Text 6"/>
          <p:cNvSpPr/>
          <p:nvPr/>
        </p:nvSpPr>
        <p:spPr>
          <a:xfrm>
            <a:off x="6017657" y="5647373"/>
            <a:ext cx="2594967" cy="324445"/>
          </a:xfrm>
          <a:prstGeom prst="rect">
            <a:avLst/>
          </a:prstGeom>
          <a:noFill/>
          <a:ln/>
        </p:spPr>
        <p:txBody>
          <a:bodyPr wrap="none" lIns="0" tIns="0" rIns="0" bIns="0" rtlCol="0" anchor="t"/>
          <a:lstStyle/>
          <a:p>
            <a:pPr algn="ctr" indent="0" marL="0">
              <a:lnSpc>
                <a:spcPts val="2550"/>
              </a:lnSpc>
              <a:buNone/>
            </a:pPr>
            <a:r>
              <a:rPr lang="en-US" sz="2000" dirty="0">
                <a:solidFill>
                  <a:srgbClr val="D4D4D1"/>
                </a:solidFill>
                <a:latin typeface="IBM Plex Sans Medium" pitchFamily="34" charset="0"/>
                <a:ea typeface="IBM Plex Sans Medium" pitchFamily="34" charset="-122"/>
                <a:cs typeface="IBM Plex Sans Medium" pitchFamily="34" charset="-120"/>
              </a:rPr>
              <a:t>Pass Rate</a:t>
            </a:r>
            <a:endParaRPr lang="en-US" sz="2000" dirty="0"/>
          </a:p>
        </p:txBody>
      </p:sp>
      <p:sp>
        <p:nvSpPr>
          <p:cNvPr id="10" name="Text 7"/>
          <p:cNvSpPr/>
          <p:nvPr/>
        </p:nvSpPr>
        <p:spPr>
          <a:xfrm>
            <a:off x="5213152" y="6096357"/>
            <a:ext cx="4203978" cy="664369"/>
          </a:xfrm>
          <a:prstGeom prst="rect">
            <a:avLst/>
          </a:prstGeom>
          <a:noFill/>
          <a:ln/>
        </p:spPr>
        <p:txBody>
          <a:bodyPr wrap="square" lIns="0" tIns="0" rIns="0" bIns="0" rtlCol="0" anchor="t"/>
          <a:lstStyle/>
          <a:p>
            <a:pPr algn="ctr" indent="0" marL="0">
              <a:lnSpc>
                <a:spcPts val="2600"/>
              </a:lnSpc>
              <a:buNone/>
            </a:pPr>
            <a:r>
              <a:rPr lang="en-US" sz="1600" dirty="0">
                <a:solidFill>
                  <a:srgbClr val="D4D4D1"/>
                </a:solidFill>
                <a:latin typeface="Roboto" pitchFamily="34" charset="0"/>
                <a:ea typeface="Roboto" pitchFamily="34" charset="-122"/>
                <a:cs typeface="Roboto" pitchFamily="34" charset="-120"/>
              </a:rPr>
              <a:t>All assertions passed successfully with zero failures</a:t>
            </a:r>
            <a:endParaRPr lang="en-US" sz="1600" dirty="0"/>
          </a:p>
        </p:txBody>
      </p:sp>
      <p:sp>
        <p:nvSpPr>
          <p:cNvPr id="11" name="Text 8"/>
          <p:cNvSpPr/>
          <p:nvPr/>
        </p:nvSpPr>
        <p:spPr>
          <a:xfrm>
            <a:off x="9676567" y="4702969"/>
            <a:ext cx="4204097" cy="685086"/>
          </a:xfrm>
          <a:prstGeom prst="rect">
            <a:avLst/>
          </a:prstGeom>
          <a:noFill/>
          <a:ln/>
        </p:spPr>
        <p:txBody>
          <a:bodyPr wrap="none" lIns="0" tIns="0" rIns="0" bIns="0" rtlCol="0" anchor="t"/>
          <a:lstStyle/>
          <a:p>
            <a:pPr algn="ctr" indent="0" marL="0">
              <a:lnSpc>
                <a:spcPts val="5350"/>
              </a:lnSpc>
              <a:buNone/>
            </a:pPr>
            <a:r>
              <a:rPr lang="en-US" sz="5350" dirty="0">
                <a:solidFill>
                  <a:srgbClr val="D4D4D1"/>
                </a:solidFill>
                <a:latin typeface="IBM Plex Sans Medium" pitchFamily="34" charset="0"/>
                <a:ea typeface="IBM Plex Sans Medium" pitchFamily="34" charset="-122"/>
                <a:cs typeface="IBM Plex Sans Medium" pitchFamily="34" charset="-120"/>
              </a:rPr>
              <a:t>0</a:t>
            </a:r>
            <a:endParaRPr lang="en-US" sz="5350" dirty="0"/>
          </a:p>
        </p:txBody>
      </p:sp>
      <p:sp>
        <p:nvSpPr>
          <p:cNvPr id="12" name="Text 9"/>
          <p:cNvSpPr/>
          <p:nvPr/>
        </p:nvSpPr>
        <p:spPr>
          <a:xfrm>
            <a:off x="10481072" y="5647373"/>
            <a:ext cx="2594967" cy="324445"/>
          </a:xfrm>
          <a:prstGeom prst="rect">
            <a:avLst/>
          </a:prstGeom>
          <a:noFill/>
          <a:ln/>
        </p:spPr>
        <p:txBody>
          <a:bodyPr wrap="none" lIns="0" tIns="0" rIns="0" bIns="0" rtlCol="0" anchor="t"/>
          <a:lstStyle/>
          <a:p>
            <a:pPr algn="ctr" indent="0" marL="0">
              <a:lnSpc>
                <a:spcPts val="2550"/>
              </a:lnSpc>
              <a:buNone/>
            </a:pPr>
            <a:r>
              <a:rPr lang="en-US" sz="2000" dirty="0">
                <a:solidFill>
                  <a:srgbClr val="D4D4D1"/>
                </a:solidFill>
                <a:latin typeface="IBM Plex Sans Medium" pitchFamily="34" charset="0"/>
                <a:ea typeface="IBM Plex Sans Medium" pitchFamily="34" charset="-122"/>
                <a:cs typeface="IBM Plex Sans Medium" pitchFamily="34" charset="-120"/>
              </a:rPr>
              <a:t>Memory Leaks</a:t>
            </a:r>
            <a:endParaRPr lang="en-US" sz="2000" dirty="0"/>
          </a:p>
        </p:txBody>
      </p:sp>
      <p:sp>
        <p:nvSpPr>
          <p:cNvPr id="13" name="Text 10"/>
          <p:cNvSpPr/>
          <p:nvPr/>
        </p:nvSpPr>
        <p:spPr>
          <a:xfrm>
            <a:off x="9676567" y="6096357"/>
            <a:ext cx="4204097" cy="332184"/>
          </a:xfrm>
          <a:prstGeom prst="rect">
            <a:avLst/>
          </a:prstGeom>
          <a:noFill/>
          <a:ln/>
        </p:spPr>
        <p:txBody>
          <a:bodyPr wrap="none" lIns="0" tIns="0" rIns="0" bIns="0" rtlCol="0" anchor="t"/>
          <a:lstStyle/>
          <a:p>
            <a:pPr algn="ctr" indent="0" marL="0">
              <a:lnSpc>
                <a:spcPts val="2600"/>
              </a:lnSpc>
              <a:buNone/>
            </a:pPr>
            <a:r>
              <a:rPr lang="en-US" sz="1600" dirty="0">
                <a:solidFill>
                  <a:srgbClr val="D4D4D1"/>
                </a:solidFill>
                <a:latin typeface="Roboto" pitchFamily="34" charset="0"/>
                <a:ea typeface="Roboto" pitchFamily="34" charset="-122"/>
                <a:cs typeface="Roboto" pitchFamily="34" charset="-120"/>
              </a:rPr>
              <a:t>Valgrind confirmed zero bytes in use at exit</a:t>
            </a:r>
            <a:endParaRPr lang="en-US" sz="1600" dirty="0"/>
          </a:p>
        </p:txBody>
      </p:sp>
      <p:sp>
        <p:nvSpPr>
          <p:cNvPr id="14" name="Text 11"/>
          <p:cNvSpPr/>
          <p:nvPr/>
        </p:nvSpPr>
        <p:spPr>
          <a:xfrm>
            <a:off x="749737" y="6994208"/>
            <a:ext cx="13130927" cy="664369"/>
          </a:xfrm>
          <a:prstGeom prst="rect">
            <a:avLst/>
          </a:prstGeom>
          <a:noFill/>
          <a:ln/>
        </p:spPr>
        <p:txBody>
          <a:bodyPr wrap="square" lIns="0" tIns="0" rIns="0" bIns="0" rtlCol="0" anchor="t"/>
          <a:lstStyle/>
          <a:p>
            <a:pPr algn="l" indent="0" marL="0">
              <a:lnSpc>
                <a:spcPts val="2600"/>
              </a:lnSpc>
              <a:buNone/>
            </a:pPr>
            <a:r>
              <a:rPr lang="en-US" sz="1600" dirty="0">
                <a:solidFill>
                  <a:srgbClr val="D4D4D1"/>
                </a:solidFill>
                <a:latin typeface="Roboto" pitchFamily="34" charset="0"/>
                <a:ea typeface="Roboto" pitchFamily="34" charset="-122"/>
                <a:cs typeface="Roboto" pitchFamily="34" charset="-120"/>
              </a:rPr>
              <a:t>Automated test suite validated Utils (18 tests), Student (13), Professor (7), Course (11), Enrollment (13), Grade (13), and Integration workflows (31 tests). Valgrind analysis confirmed all heap blocks freed with no memory leaks.</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761405" y="663535"/>
            <a:ext cx="912852" cy="278487"/>
          </a:xfrm>
          <a:prstGeom prst="rect">
            <a:avLst/>
          </a:prstGeom>
          <a:noFill/>
          <a:ln/>
        </p:spPr>
        <p:txBody>
          <a:bodyPr wrap="none" lIns="0" tIns="0" rIns="0" bIns="0" rtlCol="0" anchor="t"/>
          <a:lstStyle/>
          <a:p>
            <a:pPr algn="l" indent="0" marL="0">
              <a:lnSpc>
                <a:spcPts val="2150"/>
              </a:lnSpc>
              <a:buNone/>
            </a:pPr>
            <a:r>
              <a:rPr lang="en-US" sz="1350" dirty="0">
                <a:solidFill>
                  <a:srgbClr val="FFBC8F"/>
                </a:solidFill>
                <a:latin typeface="Roboto" pitchFamily="34" charset="0"/>
                <a:ea typeface="Roboto" pitchFamily="34" charset="-122"/>
                <a:cs typeface="Roboto" pitchFamily="34" charset="-120"/>
              </a:rPr>
              <a:t>CHAPTER 8</a:t>
            </a:r>
            <a:endParaRPr lang="en-US" sz="1350" dirty="0"/>
          </a:p>
        </p:txBody>
      </p:sp>
      <p:sp>
        <p:nvSpPr>
          <p:cNvPr id="3" name="Text 1"/>
          <p:cNvSpPr/>
          <p:nvPr/>
        </p:nvSpPr>
        <p:spPr>
          <a:xfrm>
            <a:off x="761405" y="1094184"/>
            <a:ext cx="6686074" cy="679847"/>
          </a:xfrm>
          <a:prstGeom prst="rect">
            <a:avLst/>
          </a:prstGeom>
          <a:noFill/>
          <a:ln/>
        </p:spPr>
        <p:txBody>
          <a:bodyPr wrap="none" lIns="0" tIns="0" rIns="0" bIns="0" rtlCol="0" anchor="t"/>
          <a:lstStyle/>
          <a:p>
            <a:pPr algn="l" indent="0" marL="0">
              <a:lnSpc>
                <a:spcPts val="5350"/>
              </a:lnSpc>
              <a:buNone/>
            </a:pPr>
            <a:r>
              <a:rPr lang="en-US" sz="4250" dirty="0">
                <a:solidFill>
                  <a:srgbClr val="F3F3F2"/>
                </a:solidFill>
                <a:latin typeface="IBM Plex Sans Medium" pitchFamily="34" charset="0"/>
                <a:ea typeface="IBM Plex Sans Medium" pitchFamily="34" charset="-122"/>
                <a:cs typeface="IBM Plex Sans Medium" pitchFamily="34" charset="-120"/>
              </a:rPr>
              <a:t>LLM Collaboration Analysis</a:t>
            </a:r>
            <a:endParaRPr lang="en-US" sz="4250" dirty="0"/>
          </a:p>
        </p:txBody>
      </p:sp>
      <p:pic>
        <p:nvPicPr>
          <p:cNvPr id="4" name="Image 0" descr="preencoded.png">    </p:cNvPr>
          <p:cNvPicPr>
            <a:picLocks noChangeAspect="1"/>
          </p:cNvPicPr>
          <p:nvPr/>
        </p:nvPicPr>
        <p:blipFill>
          <a:blip r:embed="rId1"/>
          <a:stretch>
            <a:fillRect/>
          </a:stretch>
        </p:blipFill>
        <p:spPr>
          <a:xfrm>
            <a:off x="761405" y="2344936"/>
            <a:ext cx="4242554" cy="4242554"/>
          </a:xfrm>
          <a:prstGeom prst="rect">
            <a:avLst/>
          </a:prstGeom>
        </p:spPr>
      </p:pic>
      <p:sp>
        <p:nvSpPr>
          <p:cNvPr id="5" name="Text 2"/>
          <p:cNvSpPr/>
          <p:nvPr/>
        </p:nvSpPr>
        <p:spPr>
          <a:xfrm>
            <a:off x="5542359" y="2317790"/>
            <a:ext cx="2719507" cy="339923"/>
          </a:xfrm>
          <a:prstGeom prst="rect">
            <a:avLst/>
          </a:prstGeom>
          <a:noFill/>
          <a:ln/>
        </p:spPr>
        <p:txBody>
          <a:bodyPr wrap="none" lIns="0" tIns="0" rIns="0" bIns="0" rtlCol="0" anchor="t"/>
          <a:lstStyle/>
          <a:p>
            <a:pPr algn="l" indent="0" marL="0">
              <a:lnSpc>
                <a:spcPts val="2650"/>
              </a:lnSpc>
              <a:buNone/>
            </a:pPr>
            <a:r>
              <a:rPr lang="en-US" sz="2100" dirty="0">
                <a:solidFill>
                  <a:srgbClr val="F3F3F2"/>
                </a:solidFill>
                <a:latin typeface="IBM Plex Sans Medium" pitchFamily="34" charset="0"/>
                <a:ea typeface="IBM Plex Sans Medium" pitchFamily="34" charset="-122"/>
                <a:cs typeface="IBM Plex Sans Medium" pitchFamily="34" charset="-120"/>
              </a:rPr>
              <a:t>Strategic AI Usage</a:t>
            </a:r>
            <a:endParaRPr lang="en-US" sz="2100" dirty="0"/>
          </a:p>
        </p:txBody>
      </p:sp>
      <p:sp>
        <p:nvSpPr>
          <p:cNvPr id="6" name="Text 3"/>
          <p:cNvSpPr/>
          <p:nvPr/>
        </p:nvSpPr>
        <p:spPr>
          <a:xfrm>
            <a:off x="5542359" y="2875240"/>
            <a:ext cx="8334137" cy="696039"/>
          </a:xfrm>
          <a:prstGeom prst="rect">
            <a:avLst/>
          </a:prstGeom>
          <a:noFill/>
          <a:ln/>
        </p:spPr>
        <p:txBody>
          <a:bodyPr wrap="square" lIns="0" tIns="0" rIns="0" bIns="0" rtlCol="0" anchor="t"/>
          <a:lstStyle/>
          <a:p>
            <a:pPr algn="l" indent="0" marL="0">
              <a:lnSpc>
                <a:spcPts val="2700"/>
              </a:lnSpc>
              <a:buNone/>
            </a:pPr>
            <a:r>
              <a:rPr lang="en-US" sz="1700" dirty="0">
                <a:solidFill>
                  <a:srgbClr val="D4D4D1"/>
                </a:solidFill>
                <a:latin typeface="Roboto" pitchFamily="34" charset="0"/>
                <a:ea typeface="Roboto" pitchFamily="34" charset="-122"/>
                <a:cs typeface="Roboto" pitchFamily="34" charset="-120"/>
              </a:rPr>
              <a:t>LLMs served as "force multipliers" for automated testing, concept understanding, and verification rather than code replacement.</a:t>
            </a:r>
            <a:endParaRPr lang="en-US" sz="1700" dirty="0"/>
          </a:p>
        </p:txBody>
      </p:sp>
      <p:sp>
        <p:nvSpPr>
          <p:cNvPr id="7" name="Text 4"/>
          <p:cNvSpPr/>
          <p:nvPr/>
        </p:nvSpPr>
        <p:spPr>
          <a:xfrm>
            <a:off x="5542359" y="3788807"/>
            <a:ext cx="2719507" cy="339923"/>
          </a:xfrm>
          <a:prstGeom prst="rect">
            <a:avLst/>
          </a:prstGeom>
          <a:noFill/>
          <a:ln/>
        </p:spPr>
        <p:txBody>
          <a:bodyPr wrap="none" lIns="0" tIns="0" rIns="0" bIns="0" rtlCol="0" anchor="t"/>
          <a:lstStyle/>
          <a:p>
            <a:pPr algn="l" indent="0" marL="0">
              <a:lnSpc>
                <a:spcPts val="2650"/>
              </a:lnSpc>
              <a:buNone/>
            </a:pPr>
            <a:r>
              <a:rPr lang="en-US" sz="2100" dirty="0">
                <a:solidFill>
                  <a:srgbClr val="F3F3F2"/>
                </a:solidFill>
                <a:latin typeface="IBM Plex Sans Medium" pitchFamily="34" charset="0"/>
                <a:ea typeface="IBM Plex Sans Medium" pitchFamily="34" charset="-122"/>
                <a:cs typeface="IBM Plex Sans Medium" pitchFamily="34" charset="-120"/>
              </a:rPr>
              <a:t>Key Successes</a:t>
            </a:r>
            <a:endParaRPr lang="en-US" sz="2100" dirty="0"/>
          </a:p>
        </p:txBody>
      </p:sp>
      <p:sp>
        <p:nvSpPr>
          <p:cNvPr id="8" name="Text 5"/>
          <p:cNvSpPr/>
          <p:nvPr/>
        </p:nvSpPr>
        <p:spPr>
          <a:xfrm>
            <a:off x="5542359" y="4346258"/>
            <a:ext cx="8334137" cy="348020"/>
          </a:xfrm>
          <a:prstGeom prst="rect">
            <a:avLst/>
          </a:prstGeom>
          <a:noFill/>
          <a:ln/>
        </p:spPr>
        <p:txBody>
          <a:bodyPr wrap="none" lIns="0" tIns="0" rIns="0" bIns="0" rtlCol="0" anchor="t"/>
          <a:lstStyle/>
          <a:p>
            <a:pPr algn="l" marL="342900" indent="-342900">
              <a:lnSpc>
                <a:spcPts val="2700"/>
              </a:lnSpc>
              <a:buSzPct val="100000"/>
              <a:buChar char="•"/>
            </a:pPr>
            <a:r>
              <a:rPr lang="en-US" sz="1700" dirty="0">
                <a:solidFill>
                  <a:srgbClr val="D4D4D1"/>
                </a:solidFill>
                <a:latin typeface="Roboto" pitchFamily="34" charset="0"/>
                <a:ea typeface="Roboto" pitchFamily="34" charset="-122"/>
                <a:cs typeface="Roboto" pitchFamily="34" charset="-120"/>
              </a:rPr>
              <a:t>Memory management patterns preventing leaks</a:t>
            </a:r>
            <a:endParaRPr lang="en-US" sz="1700" dirty="0"/>
          </a:p>
        </p:txBody>
      </p:sp>
      <p:sp>
        <p:nvSpPr>
          <p:cNvPr id="9" name="Text 6"/>
          <p:cNvSpPr/>
          <p:nvPr/>
        </p:nvSpPr>
        <p:spPr>
          <a:xfrm>
            <a:off x="5542359" y="4770358"/>
            <a:ext cx="8334137" cy="348020"/>
          </a:xfrm>
          <a:prstGeom prst="rect">
            <a:avLst/>
          </a:prstGeom>
          <a:noFill/>
          <a:ln/>
        </p:spPr>
        <p:txBody>
          <a:bodyPr wrap="none" lIns="0" tIns="0" rIns="0" bIns="0" rtlCol="0" anchor="t"/>
          <a:lstStyle/>
          <a:p>
            <a:pPr algn="l" marL="342900" indent="-342900">
              <a:lnSpc>
                <a:spcPts val="2700"/>
              </a:lnSpc>
              <a:buSzPct val="100000"/>
              <a:buChar char="•"/>
            </a:pPr>
            <a:r>
              <a:rPr lang="en-US" sz="1700" dirty="0">
                <a:solidFill>
                  <a:srgbClr val="D4D4D1"/>
                </a:solidFill>
                <a:latin typeface="Roboto" pitchFamily="34" charset="0"/>
                <a:ea typeface="Roboto" pitchFamily="34" charset="-122"/>
                <a:cs typeface="Roboto" pitchFamily="34" charset="-120"/>
              </a:rPr>
              <a:t>Reverse loop algorithm for cascade delete</a:t>
            </a:r>
            <a:endParaRPr lang="en-US" sz="1700" dirty="0"/>
          </a:p>
        </p:txBody>
      </p:sp>
      <p:sp>
        <p:nvSpPr>
          <p:cNvPr id="10" name="Text 7"/>
          <p:cNvSpPr/>
          <p:nvPr/>
        </p:nvSpPr>
        <p:spPr>
          <a:xfrm>
            <a:off x="5542359" y="5194459"/>
            <a:ext cx="8334137" cy="348020"/>
          </a:xfrm>
          <a:prstGeom prst="rect">
            <a:avLst/>
          </a:prstGeom>
          <a:noFill/>
          <a:ln/>
        </p:spPr>
        <p:txBody>
          <a:bodyPr wrap="none" lIns="0" tIns="0" rIns="0" bIns="0" rtlCol="0" anchor="t"/>
          <a:lstStyle/>
          <a:p>
            <a:pPr algn="l" marL="342900" indent="-342900">
              <a:lnSpc>
                <a:spcPts val="2700"/>
              </a:lnSpc>
              <a:buSzPct val="100000"/>
              <a:buChar char="•"/>
            </a:pPr>
            <a:r>
              <a:rPr lang="en-US" sz="1700" dirty="0">
                <a:solidFill>
                  <a:srgbClr val="D4D4D1"/>
                </a:solidFill>
                <a:latin typeface="Roboto" pitchFamily="34" charset="0"/>
                <a:ea typeface="Roboto" pitchFamily="34" charset="-122"/>
                <a:cs typeface="Roboto" pitchFamily="34" charset="-120"/>
              </a:rPr>
              <a:t>Automated unit test generation with edge cases</a:t>
            </a:r>
            <a:endParaRPr lang="en-US" sz="1700" dirty="0"/>
          </a:p>
        </p:txBody>
      </p:sp>
      <p:sp>
        <p:nvSpPr>
          <p:cNvPr id="11" name="Text 8"/>
          <p:cNvSpPr/>
          <p:nvPr/>
        </p:nvSpPr>
        <p:spPr>
          <a:xfrm>
            <a:off x="5542359" y="5618559"/>
            <a:ext cx="8334137" cy="348020"/>
          </a:xfrm>
          <a:prstGeom prst="rect">
            <a:avLst/>
          </a:prstGeom>
          <a:noFill/>
          <a:ln/>
        </p:spPr>
        <p:txBody>
          <a:bodyPr wrap="none" lIns="0" tIns="0" rIns="0" bIns="0" rtlCol="0" anchor="t"/>
          <a:lstStyle/>
          <a:p>
            <a:pPr algn="l" marL="342900" indent="-342900">
              <a:lnSpc>
                <a:spcPts val="2700"/>
              </a:lnSpc>
              <a:buSzPct val="100000"/>
              <a:buChar char="•"/>
            </a:pPr>
            <a:r>
              <a:rPr lang="en-US" sz="1700" dirty="0">
                <a:solidFill>
                  <a:srgbClr val="D4D4D1"/>
                </a:solidFill>
                <a:latin typeface="Roboto" pitchFamily="34" charset="0"/>
                <a:ea typeface="Roboto" pitchFamily="34" charset="-122"/>
                <a:cs typeface="Roboto" pitchFamily="34" charset="-120"/>
              </a:rPr>
              <a:t>Cross-platform compatibility guidance</a:t>
            </a:r>
            <a:endParaRPr lang="en-US" sz="1700" dirty="0"/>
          </a:p>
        </p:txBody>
      </p:sp>
      <p:sp>
        <p:nvSpPr>
          <p:cNvPr id="12" name="Text 9"/>
          <p:cNvSpPr/>
          <p:nvPr/>
        </p:nvSpPr>
        <p:spPr>
          <a:xfrm>
            <a:off x="5542359" y="6184106"/>
            <a:ext cx="2719507" cy="339923"/>
          </a:xfrm>
          <a:prstGeom prst="rect">
            <a:avLst/>
          </a:prstGeom>
          <a:noFill/>
          <a:ln/>
        </p:spPr>
        <p:txBody>
          <a:bodyPr wrap="none" lIns="0" tIns="0" rIns="0" bIns="0" rtlCol="0" anchor="t"/>
          <a:lstStyle/>
          <a:p>
            <a:pPr algn="l" indent="0" marL="0">
              <a:lnSpc>
                <a:spcPts val="2650"/>
              </a:lnSpc>
              <a:buNone/>
            </a:pPr>
            <a:r>
              <a:rPr lang="en-US" sz="2100" dirty="0">
                <a:solidFill>
                  <a:srgbClr val="F3F3F2"/>
                </a:solidFill>
                <a:latin typeface="IBM Plex Sans Medium" pitchFamily="34" charset="0"/>
                <a:ea typeface="IBM Plex Sans Medium" pitchFamily="34" charset="-122"/>
                <a:cs typeface="IBM Plex Sans Medium" pitchFamily="34" charset="-120"/>
              </a:rPr>
              <a:t>Critical Limitations</a:t>
            </a:r>
            <a:endParaRPr lang="en-US" sz="2100" dirty="0"/>
          </a:p>
        </p:txBody>
      </p:sp>
      <p:sp>
        <p:nvSpPr>
          <p:cNvPr id="13" name="Text 10"/>
          <p:cNvSpPr/>
          <p:nvPr/>
        </p:nvSpPr>
        <p:spPr>
          <a:xfrm>
            <a:off x="5542359" y="6741557"/>
            <a:ext cx="8334137" cy="696039"/>
          </a:xfrm>
          <a:prstGeom prst="rect">
            <a:avLst/>
          </a:prstGeom>
          <a:noFill/>
          <a:ln/>
        </p:spPr>
        <p:txBody>
          <a:bodyPr wrap="square" lIns="0" tIns="0" rIns="0" bIns="0" rtlCol="0" anchor="t"/>
          <a:lstStyle/>
          <a:p>
            <a:pPr algn="l" indent="0" marL="0">
              <a:lnSpc>
                <a:spcPts val="2700"/>
              </a:lnSpc>
              <a:buNone/>
            </a:pPr>
            <a:r>
              <a:rPr lang="en-US" sz="1700" dirty="0">
                <a:solidFill>
                  <a:srgbClr val="D4D4D1"/>
                </a:solidFill>
                <a:latin typeface="Roboto" pitchFamily="34" charset="0"/>
                <a:ea typeface="Roboto" pitchFamily="34" charset="-122"/>
                <a:cs typeface="Roboto" pitchFamily="34" charset="-120"/>
              </a:rPr>
              <a:t>AI occasionally suggested non-standard ANSI C functions (getline, strdup) requiring custom implementations for Windows compatibility.</a:t>
            </a:r>
            <a:endParaRPr lang="en-US" sz="1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505182" y="1357908"/>
            <a:ext cx="707350" cy="184785"/>
          </a:xfrm>
          <a:prstGeom prst="rect">
            <a:avLst/>
          </a:prstGeom>
          <a:noFill/>
          <a:ln/>
        </p:spPr>
        <p:txBody>
          <a:bodyPr wrap="none" lIns="0" tIns="0" rIns="0" bIns="0" rtlCol="0" anchor="t"/>
          <a:lstStyle/>
          <a:p>
            <a:pPr algn="l" indent="0" marL="0">
              <a:lnSpc>
                <a:spcPts val="1450"/>
              </a:lnSpc>
              <a:buNone/>
            </a:pPr>
            <a:r>
              <a:rPr lang="en-US" sz="900" dirty="0">
                <a:solidFill>
                  <a:srgbClr val="FFBC8F"/>
                </a:solidFill>
                <a:latin typeface="Roboto" pitchFamily="34" charset="0"/>
                <a:ea typeface="Roboto" pitchFamily="34" charset="-122"/>
                <a:cs typeface="Roboto" pitchFamily="34" charset="-120"/>
              </a:rPr>
              <a:t>CONCLUSION</a:t>
            </a:r>
            <a:endParaRPr lang="en-US" sz="900" dirty="0"/>
          </a:p>
        </p:txBody>
      </p:sp>
      <p:sp>
        <p:nvSpPr>
          <p:cNvPr id="4" name="Text 1"/>
          <p:cNvSpPr/>
          <p:nvPr/>
        </p:nvSpPr>
        <p:spPr>
          <a:xfrm>
            <a:off x="505182" y="1643539"/>
            <a:ext cx="5537716" cy="451009"/>
          </a:xfrm>
          <a:prstGeom prst="rect">
            <a:avLst/>
          </a:prstGeom>
          <a:noFill/>
          <a:ln/>
        </p:spPr>
        <p:txBody>
          <a:bodyPr wrap="none" lIns="0" tIns="0" rIns="0" bIns="0" rtlCol="0" anchor="t"/>
          <a:lstStyle/>
          <a:p>
            <a:pPr algn="l" indent="0" marL="0">
              <a:lnSpc>
                <a:spcPts val="3550"/>
              </a:lnSpc>
              <a:buNone/>
            </a:pPr>
            <a:r>
              <a:rPr lang="en-US" sz="2800" dirty="0">
                <a:solidFill>
                  <a:srgbClr val="F3F3F2"/>
                </a:solidFill>
                <a:latin typeface="IBM Plex Sans Medium" pitchFamily="34" charset="0"/>
                <a:ea typeface="IBM Plex Sans Medium" pitchFamily="34" charset="-122"/>
                <a:cs typeface="IBM Plex Sans Medium" pitchFamily="34" charset="-120"/>
              </a:rPr>
              <a:t>Project Outcomes &amp; Future Vision</a:t>
            </a:r>
            <a:endParaRPr lang="en-US" sz="2800" dirty="0"/>
          </a:p>
        </p:txBody>
      </p:sp>
      <p:sp>
        <p:nvSpPr>
          <p:cNvPr id="5" name="Shape 2"/>
          <p:cNvSpPr/>
          <p:nvPr/>
        </p:nvSpPr>
        <p:spPr>
          <a:xfrm>
            <a:off x="505182" y="2311003"/>
            <a:ext cx="3994666" cy="1870710"/>
          </a:xfrm>
          <a:prstGeom prst="roundRect">
            <a:avLst>
              <a:gd name="adj" fmla="val 1158"/>
            </a:avLst>
          </a:prstGeom>
          <a:solidFill>
            <a:srgbClr val="484B51"/>
          </a:solidFill>
          <a:ln/>
        </p:spPr>
      </p:sp>
      <p:sp>
        <p:nvSpPr>
          <p:cNvPr id="6" name="Shape 3"/>
          <p:cNvSpPr/>
          <p:nvPr/>
        </p:nvSpPr>
        <p:spPr>
          <a:xfrm>
            <a:off x="649486" y="2455307"/>
            <a:ext cx="433030" cy="433030"/>
          </a:xfrm>
          <a:prstGeom prst="roundRect">
            <a:avLst>
              <a:gd name="adj" fmla="val 21114208"/>
            </a:avLst>
          </a:prstGeom>
          <a:solidFill>
            <a:srgbClr val="FFBC8F"/>
          </a:solidFill>
          <a:ln/>
        </p:spPr>
      </p:sp>
      <p:pic>
        <p:nvPicPr>
          <p:cNvPr id="7"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68548" y="2574369"/>
            <a:ext cx="194786" cy="194786"/>
          </a:xfrm>
          <a:prstGeom prst="rect">
            <a:avLst/>
          </a:prstGeom>
        </p:spPr>
      </p:pic>
      <p:sp>
        <p:nvSpPr>
          <p:cNvPr id="8" name="Text 4"/>
          <p:cNvSpPr/>
          <p:nvPr/>
        </p:nvSpPr>
        <p:spPr>
          <a:xfrm>
            <a:off x="649486" y="3032641"/>
            <a:ext cx="1804392" cy="225623"/>
          </a:xfrm>
          <a:prstGeom prst="rect">
            <a:avLst/>
          </a:prstGeom>
          <a:noFill/>
          <a:ln/>
        </p:spPr>
        <p:txBody>
          <a:bodyPr wrap="none" lIns="0" tIns="0" rIns="0" bIns="0" rtlCol="0" anchor="t"/>
          <a:lstStyle/>
          <a:p>
            <a:pPr algn="l" indent="0" marL="0">
              <a:lnSpc>
                <a:spcPts val="1750"/>
              </a:lnSpc>
              <a:buNone/>
            </a:pPr>
            <a:r>
              <a:rPr lang="en-US" sz="1400" dirty="0">
                <a:solidFill>
                  <a:srgbClr val="D4D4D1"/>
                </a:solidFill>
                <a:latin typeface="IBM Plex Sans Medium" pitchFamily="34" charset="0"/>
                <a:ea typeface="IBM Plex Sans Medium" pitchFamily="34" charset="-122"/>
                <a:cs typeface="IBM Plex Sans Medium" pitchFamily="34" charset="-120"/>
              </a:rPr>
              <a:t>Accomplishments</a:t>
            </a:r>
            <a:endParaRPr lang="en-US" sz="1400" dirty="0"/>
          </a:p>
        </p:txBody>
      </p:sp>
      <p:sp>
        <p:nvSpPr>
          <p:cNvPr id="9" name="Text 5"/>
          <p:cNvSpPr/>
          <p:nvPr/>
        </p:nvSpPr>
        <p:spPr>
          <a:xfrm>
            <a:off x="649486" y="3344823"/>
            <a:ext cx="3706058" cy="692587"/>
          </a:xfrm>
          <a:prstGeom prst="rect">
            <a:avLst/>
          </a:prstGeom>
          <a:noFill/>
          <a:ln/>
        </p:spPr>
        <p:txBody>
          <a:bodyPr wrap="square" lIns="0" tIns="0" rIns="0" bIns="0" rtlCol="0" anchor="t"/>
          <a:lstStyle/>
          <a:p>
            <a:pPr algn="l" indent="0" marL="0">
              <a:lnSpc>
                <a:spcPts val="1800"/>
              </a:lnSpc>
              <a:buNone/>
            </a:pPr>
            <a:r>
              <a:rPr lang="en-US" sz="1100" dirty="0">
                <a:solidFill>
                  <a:srgbClr val="D4D4D1"/>
                </a:solidFill>
                <a:latin typeface="Roboto" pitchFamily="34" charset="0"/>
                <a:ea typeface="Roboto" pitchFamily="34" charset="-122"/>
                <a:cs typeface="Roboto" pitchFamily="34" charset="-120"/>
              </a:rPr>
              <a:t>Fully functional SIS with robust file-based database, dynamic memory management, relational data model, and comprehensive input validation.</a:t>
            </a:r>
            <a:endParaRPr lang="en-US" sz="1100" dirty="0"/>
          </a:p>
        </p:txBody>
      </p:sp>
      <p:sp>
        <p:nvSpPr>
          <p:cNvPr id="10" name="Shape 6"/>
          <p:cNvSpPr/>
          <p:nvPr/>
        </p:nvSpPr>
        <p:spPr>
          <a:xfrm>
            <a:off x="4644152" y="2311003"/>
            <a:ext cx="3994666" cy="1870710"/>
          </a:xfrm>
          <a:prstGeom prst="roundRect">
            <a:avLst>
              <a:gd name="adj" fmla="val 1158"/>
            </a:avLst>
          </a:prstGeom>
          <a:solidFill>
            <a:srgbClr val="484B51"/>
          </a:solidFill>
          <a:ln/>
        </p:spPr>
      </p:sp>
      <p:sp>
        <p:nvSpPr>
          <p:cNvPr id="11" name="Shape 7"/>
          <p:cNvSpPr/>
          <p:nvPr/>
        </p:nvSpPr>
        <p:spPr>
          <a:xfrm>
            <a:off x="4788456" y="2455307"/>
            <a:ext cx="433030" cy="433030"/>
          </a:xfrm>
          <a:prstGeom prst="roundRect">
            <a:avLst>
              <a:gd name="adj" fmla="val 21114208"/>
            </a:avLst>
          </a:prstGeom>
          <a:solidFill>
            <a:srgbClr val="FFBC8F"/>
          </a:solidFill>
          <a:ln/>
        </p:spPr>
      </p:sp>
      <p:pic>
        <p:nvPicPr>
          <p:cNvPr id="12"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907518" y="2574369"/>
            <a:ext cx="194786" cy="194786"/>
          </a:xfrm>
          <a:prstGeom prst="rect">
            <a:avLst/>
          </a:prstGeom>
        </p:spPr>
      </p:pic>
      <p:sp>
        <p:nvSpPr>
          <p:cNvPr id="13" name="Text 8"/>
          <p:cNvSpPr/>
          <p:nvPr/>
        </p:nvSpPr>
        <p:spPr>
          <a:xfrm>
            <a:off x="4788456" y="3032641"/>
            <a:ext cx="1804392" cy="225623"/>
          </a:xfrm>
          <a:prstGeom prst="rect">
            <a:avLst/>
          </a:prstGeom>
          <a:noFill/>
          <a:ln/>
        </p:spPr>
        <p:txBody>
          <a:bodyPr wrap="none" lIns="0" tIns="0" rIns="0" bIns="0" rtlCol="0" anchor="t"/>
          <a:lstStyle/>
          <a:p>
            <a:pPr algn="l" indent="0" marL="0">
              <a:lnSpc>
                <a:spcPts val="1750"/>
              </a:lnSpc>
              <a:buNone/>
            </a:pPr>
            <a:r>
              <a:rPr lang="en-US" sz="1400" dirty="0">
                <a:solidFill>
                  <a:srgbClr val="D4D4D1"/>
                </a:solidFill>
                <a:latin typeface="IBM Plex Sans Medium" pitchFamily="34" charset="0"/>
                <a:ea typeface="IBM Plex Sans Medium" pitchFamily="34" charset="-122"/>
                <a:cs typeface="IBM Plex Sans Medium" pitchFamily="34" charset="-120"/>
              </a:rPr>
              <a:t>Lessons Learned</a:t>
            </a:r>
            <a:endParaRPr lang="en-US" sz="1400" dirty="0"/>
          </a:p>
        </p:txBody>
      </p:sp>
      <p:sp>
        <p:nvSpPr>
          <p:cNvPr id="14" name="Text 9"/>
          <p:cNvSpPr/>
          <p:nvPr/>
        </p:nvSpPr>
        <p:spPr>
          <a:xfrm>
            <a:off x="4788456" y="3344823"/>
            <a:ext cx="3706058" cy="692587"/>
          </a:xfrm>
          <a:prstGeom prst="rect">
            <a:avLst/>
          </a:prstGeom>
          <a:noFill/>
          <a:ln/>
        </p:spPr>
        <p:txBody>
          <a:bodyPr wrap="square" lIns="0" tIns="0" rIns="0" bIns="0" rtlCol="0" anchor="t"/>
          <a:lstStyle/>
          <a:p>
            <a:pPr algn="l" indent="0" marL="0">
              <a:lnSpc>
                <a:spcPts val="1800"/>
              </a:lnSpc>
              <a:buNone/>
            </a:pPr>
            <a:r>
              <a:rPr lang="en-US" sz="1100" dirty="0">
                <a:solidFill>
                  <a:srgbClr val="D4D4D1"/>
                </a:solidFill>
                <a:latin typeface="Roboto" pitchFamily="34" charset="0"/>
                <a:ea typeface="Roboto" pitchFamily="34" charset="-122"/>
                <a:cs typeface="Roboto" pitchFamily="34" charset="-120"/>
              </a:rPr>
              <a:t>Modular design simplified debugging, early testing saved hours, defensive programming prevented crashes, and double pointers solved memory challenges.</a:t>
            </a:r>
            <a:endParaRPr lang="en-US" sz="1100" dirty="0"/>
          </a:p>
        </p:txBody>
      </p:sp>
      <p:sp>
        <p:nvSpPr>
          <p:cNvPr id="15" name="Shape 10"/>
          <p:cNvSpPr/>
          <p:nvPr/>
        </p:nvSpPr>
        <p:spPr>
          <a:xfrm>
            <a:off x="505182" y="4326017"/>
            <a:ext cx="8133636" cy="1639848"/>
          </a:xfrm>
          <a:prstGeom prst="roundRect">
            <a:avLst>
              <a:gd name="adj" fmla="val 1320"/>
            </a:avLst>
          </a:prstGeom>
          <a:solidFill>
            <a:srgbClr val="484B51"/>
          </a:solidFill>
          <a:ln/>
        </p:spPr>
      </p:sp>
      <p:sp>
        <p:nvSpPr>
          <p:cNvPr id="16" name="Shape 11"/>
          <p:cNvSpPr/>
          <p:nvPr/>
        </p:nvSpPr>
        <p:spPr>
          <a:xfrm>
            <a:off x="649486" y="4470321"/>
            <a:ext cx="433030" cy="433030"/>
          </a:xfrm>
          <a:prstGeom prst="roundRect">
            <a:avLst>
              <a:gd name="adj" fmla="val 21114208"/>
            </a:avLst>
          </a:prstGeom>
          <a:solidFill>
            <a:srgbClr val="FFBC8F"/>
          </a:solidFill>
          <a:ln/>
        </p:spPr>
      </p:sp>
      <p:pic>
        <p:nvPicPr>
          <p:cNvPr id="17"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768548" y="4589383"/>
            <a:ext cx="194786" cy="194786"/>
          </a:xfrm>
          <a:prstGeom prst="rect">
            <a:avLst/>
          </a:prstGeom>
        </p:spPr>
      </p:pic>
      <p:sp>
        <p:nvSpPr>
          <p:cNvPr id="18" name="Text 12"/>
          <p:cNvSpPr/>
          <p:nvPr/>
        </p:nvSpPr>
        <p:spPr>
          <a:xfrm>
            <a:off x="649486" y="5047655"/>
            <a:ext cx="1813798" cy="225623"/>
          </a:xfrm>
          <a:prstGeom prst="rect">
            <a:avLst/>
          </a:prstGeom>
          <a:noFill/>
          <a:ln/>
        </p:spPr>
        <p:txBody>
          <a:bodyPr wrap="none" lIns="0" tIns="0" rIns="0" bIns="0" rtlCol="0" anchor="t"/>
          <a:lstStyle/>
          <a:p>
            <a:pPr algn="l" indent="0" marL="0">
              <a:lnSpc>
                <a:spcPts val="1750"/>
              </a:lnSpc>
              <a:buNone/>
            </a:pPr>
            <a:r>
              <a:rPr lang="en-US" sz="1400" dirty="0">
                <a:solidFill>
                  <a:srgbClr val="D4D4D1"/>
                </a:solidFill>
                <a:latin typeface="IBM Plex Sans Medium" pitchFamily="34" charset="0"/>
                <a:ea typeface="IBM Plex Sans Medium" pitchFamily="34" charset="-122"/>
                <a:cs typeface="IBM Plex Sans Medium" pitchFamily="34" charset="-120"/>
              </a:rPr>
              <a:t>Future Enhancements</a:t>
            </a:r>
            <a:endParaRPr lang="en-US" sz="1400" dirty="0"/>
          </a:p>
        </p:txBody>
      </p:sp>
      <p:sp>
        <p:nvSpPr>
          <p:cNvPr id="19" name="Text 13"/>
          <p:cNvSpPr/>
          <p:nvPr/>
        </p:nvSpPr>
        <p:spPr>
          <a:xfrm>
            <a:off x="649486" y="5359837"/>
            <a:ext cx="7845028" cy="461724"/>
          </a:xfrm>
          <a:prstGeom prst="rect">
            <a:avLst/>
          </a:prstGeom>
          <a:noFill/>
          <a:ln/>
        </p:spPr>
        <p:txBody>
          <a:bodyPr wrap="square" lIns="0" tIns="0" rIns="0" bIns="0" rtlCol="0" anchor="t"/>
          <a:lstStyle/>
          <a:p>
            <a:pPr algn="l" indent="0" marL="0">
              <a:lnSpc>
                <a:spcPts val="1800"/>
              </a:lnSpc>
              <a:buNone/>
            </a:pPr>
            <a:r>
              <a:rPr lang="en-US" sz="1100" dirty="0">
                <a:solidFill>
                  <a:srgbClr val="D4D4D1"/>
                </a:solidFill>
                <a:latin typeface="Roboto" pitchFamily="34" charset="0"/>
                <a:ea typeface="Roboto" pitchFamily="34" charset="-122"/>
                <a:cs typeface="Roboto" pitchFamily="34" charset="-120"/>
              </a:rPr>
              <a:t>Implement Binary Search Tree for O(log n) performance, add GUI using GTK/Qt, introduce role-based access control for Admin vs Student login.</a:t>
            </a:r>
            <a:endParaRPr lang="en-US" sz="1100" dirty="0"/>
          </a:p>
        </p:txBody>
      </p:sp>
      <p:sp>
        <p:nvSpPr>
          <p:cNvPr id="20" name="Text 14"/>
          <p:cNvSpPr/>
          <p:nvPr/>
        </p:nvSpPr>
        <p:spPr>
          <a:xfrm>
            <a:off x="721638" y="6290667"/>
            <a:ext cx="7917180" cy="461724"/>
          </a:xfrm>
          <a:prstGeom prst="rect">
            <a:avLst/>
          </a:prstGeom>
          <a:noFill/>
          <a:ln/>
        </p:spPr>
        <p:txBody>
          <a:bodyPr wrap="square" lIns="0" tIns="0" rIns="0" bIns="0" rtlCol="0" anchor="t"/>
          <a:lstStyle/>
          <a:p>
            <a:pPr algn="l" indent="0" marL="0">
              <a:lnSpc>
                <a:spcPts val="1800"/>
              </a:lnSpc>
              <a:buNone/>
            </a:pPr>
            <a:r>
              <a:rPr lang="en-US" sz="1100" b="1" dirty="0">
                <a:solidFill>
                  <a:srgbClr val="D4D4D1"/>
                </a:solidFill>
                <a:latin typeface="Roboto" pitchFamily="34" charset="0"/>
                <a:ea typeface="Roboto" pitchFamily="34" charset="-122"/>
                <a:cs typeface="Roboto" pitchFamily="34" charset="-120"/>
              </a:rPr>
              <a:t>Team Contribution:</a:t>
            </a:r>
            <a:pPr algn="l" indent="0" marL="0">
              <a:lnSpc>
                <a:spcPts val="1800"/>
              </a:lnSpc>
              <a:buNone/>
            </a:pPr>
            <a:r>
              <a:rPr lang="en-US" sz="1100" dirty="0">
                <a:solidFill>
                  <a:srgbClr val="D4D4D1"/>
                </a:solidFill>
                <a:latin typeface="Roboto" pitchFamily="34" charset="0"/>
                <a:ea typeface="Roboto" pitchFamily="34" charset="-122"/>
                <a:cs typeface="Roboto" pitchFamily="34" charset="-120"/>
              </a:rPr>
              <a:t> İbrahim Halil Doğan (50%) - Architecture, Enrollment, File I/O, Course Management. Mert Canoğlu (50%) - Student/Professor Modules, Grading, Testing, Curriculum Logic, Documentation.</a:t>
            </a:r>
            <a:endParaRPr lang="en-US" sz="1100" dirty="0"/>
          </a:p>
        </p:txBody>
      </p:sp>
      <p:sp>
        <p:nvSpPr>
          <p:cNvPr id="21" name="Shape 15"/>
          <p:cNvSpPr/>
          <p:nvPr/>
        </p:nvSpPr>
        <p:spPr>
          <a:xfrm>
            <a:off x="505182" y="6128266"/>
            <a:ext cx="15240" cy="786527"/>
          </a:xfrm>
          <a:prstGeom prst="rect">
            <a:avLst/>
          </a:prstGeom>
          <a:solidFill>
            <a:srgbClr val="FFBC8F"/>
          </a:solidFill>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2026-01-16T20:27:02Z</dcterms:created>
  <dcterms:modified xsi:type="dcterms:W3CDTF">2026-01-16T20:27:02Z</dcterms:modified>
</cp:coreProperties>
</file>